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5"/>
  </p:notesMasterIdLst>
  <p:handoutMasterIdLst>
    <p:handoutMasterId r:id="rId26"/>
  </p:handoutMasterIdLst>
  <p:sldIdLst>
    <p:sldId id="271" r:id="rId2"/>
    <p:sldId id="272" r:id="rId3"/>
    <p:sldId id="394" r:id="rId4"/>
    <p:sldId id="395" r:id="rId5"/>
    <p:sldId id="393" r:id="rId6"/>
    <p:sldId id="381" r:id="rId7"/>
    <p:sldId id="379" r:id="rId8"/>
    <p:sldId id="310" r:id="rId9"/>
    <p:sldId id="397" r:id="rId10"/>
    <p:sldId id="278" r:id="rId11"/>
    <p:sldId id="376" r:id="rId12"/>
    <p:sldId id="383" r:id="rId13"/>
    <p:sldId id="385" r:id="rId14"/>
    <p:sldId id="408" r:id="rId15"/>
    <p:sldId id="426" r:id="rId16"/>
    <p:sldId id="424" r:id="rId17"/>
    <p:sldId id="427" r:id="rId18"/>
    <p:sldId id="425" r:id="rId19"/>
    <p:sldId id="388" r:id="rId20"/>
    <p:sldId id="417" r:id="rId21"/>
    <p:sldId id="396" r:id="rId22"/>
    <p:sldId id="338" r:id="rId23"/>
    <p:sldId id="39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06" autoAdjust="0"/>
    <p:restoredTop sz="82984" autoAdjust="0"/>
  </p:normalViewPr>
  <p:slideViewPr>
    <p:cSldViewPr>
      <p:cViewPr varScale="1">
        <p:scale>
          <a:sx n="84" d="100"/>
          <a:sy n="84" d="100"/>
        </p:scale>
        <p:origin x="684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2334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A1FDFB-59AB-458A-8BAC-F99AB5A32AD9}" type="doc">
      <dgm:prSet loTypeId="urn:microsoft.com/office/officeart/2005/8/layout/funnel1" loCatId="process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E4B102-2595-40C9-B6E9-BBBF40BFBA32}">
      <dgm:prSet phldrT="[Text]"/>
      <dgm:spPr/>
      <dgm:t>
        <a:bodyPr/>
        <a:lstStyle/>
        <a:p>
          <a:r>
            <a:rPr lang="en-US" dirty="0"/>
            <a:t>HHS IT Strategy</a:t>
          </a:r>
        </a:p>
      </dgm:t>
    </dgm:pt>
    <dgm:pt modelId="{C727C04D-4870-4AA8-9203-ACA9C24B2EC7}" type="parTrans" cxnId="{21460E38-F82D-4FDE-9588-81DEE7D6CF8A}">
      <dgm:prSet/>
      <dgm:spPr/>
      <dgm:t>
        <a:bodyPr/>
        <a:lstStyle/>
        <a:p>
          <a:endParaRPr lang="en-US"/>
        </a:p>
      </dgm:t>
    </dgm:pt>
    <dgm:pt modelId="{CBDF231B-9C18-4461-B041-368F7F754B15}" type="sibTrans" cxnId="{21460E38-F82D-4FDE-9588-81DEE7D6CF8A}">
      <dgm:prSet/>
      <dgm:spPr/>
      <dgm:t>
        <a:bodyPr/>
        <a:lstStyle/>
        <a:p>
          <a:endParaRPr lang="en-US"/>
        </a:p>
      </dgm:t>
    </dgm:pt>
    <dgm:pt modelId="{B4D56235-BE72-4B96-884A-DEC35E25A074}">
      <dgm:prSet phldrT="[Text]"/>
      <dgm:spPr/>
      <dgm:t>
        <a:bodyPr/>
        <a:lstStyle/>
        <a:p>
          <a:r>
            <a:rPr lang="en-US" dirty="0"/>
            <a:t>CDC IT Strategy</a:t>
          </a:r>
        </a:p>
      </dgm:t>
    </dgm:pt>
    <dgm:pt modelId="{669E3EC1-59B7-4E50-A89A-FEB62AA98388}" type="parTrans" cxnId="{7DD0123B-AD8C-4FBA-850D-FF7A7FF28173}">
      <dgm:prSet/>
      <dgm:spPr/>
      <dgm:t>
        <a:bodyPr/>
        <a:lstStyle/>
        <a:p>
          <a:endParaRPr lang="en-US"/>
        </a:p>
      </dgm:t>
    </dgm:pt>
    <dgm:pt modelId="{AF2B39B2-B680-4E30-8E7E-E4AD17BF2A9B}" type="sibTrans" cxnId="{7DD0123B-AD8C-4FBA-850D-FF7A7FF28173}">
      <dgm:prSet/>
      <dgm:spPr/>
      <dgm:t>
        <a:bodyPr/>
        <a:lstStyle/>
        <a:p>
          <a:endParaRPr lang="en-US"/>
        </a:p>
      </dgm:t>
    </dgm:pt>
    <dgm:pt modelId="{1C01B290-83B1-4012-97AA-4EA7316B3936}">
      <dgm:prSet phldrT="[Text]"/>
      <dgm:spPr/>
      <dgm:t>
        <a:bodyPr/>
        <a:lstStyle/>
        <a:p>
          <a:r>
            <a:rPr lang="en-US" dirty="0"/>
            <a:t>Federal IT Strategy</a:t>
          </a:r>
        </a:p>
      </dgm:t>
    </dgm:pt>
    <dgm:pt modelId="{71D209F8-45EC-4E90-8CD9-EC87FB7D82F6}" type="parTrans" cxnId="{3A40BC52-2B4E-41BD-A8E1-CDD583398DD3}">
      <dgm:prSet/>
      <dgm:spPr/>
      <dgm:t>
        <a:bodyPr/>
        <a:lstStyle/>
        <a:p>
          <a:endParaRPr lang="en-US"/>
        </a:p>
      </dgm:t>
    </dgm:pt>
    <dgm:pt modelId="{36FBA741-61C4-40E0-B70A-10112A35C02D}" type="sibTrans" cxnId="{3A40BC52-2B4E-41BD-A8E1-CDD583398DD3}">
      <dgm:prSet/>
      <dgm:spPr/>
      <dgm:t>
        <a:bodyPr/>
        <a:lstStyle/>
        <a:p>
          <a:endParaRPr lang="en-US"/>
        </a:p>
      </dgm:t>
    </dgm:pt>
    <dgm:pt modelId="{02FCDFFE-4677-4548-9889-89CAA6D74924}">
      <dgm:prSet phldrT="[Text]" custT="1"/>
      <dgm:spPr/>
      <dgm:t>
        <a:bodyPr/>
        <a:lstStyle/>
        <a:p>
          <a:endParaRPr lang="en-US" sz="1600" b="1" dirty="0"/>
        </a:p>
      </dgm:t>
    </dgm:pt>
    <dgm:pt modelId="{08DCF50B-6840-4AAB-868D-92A234E1343C}" type="sibTrans" cxnId="{DFD1F6D1-A0D9-4746-9614-088784B91BAB}">
      <dgm:prSet/>
      <dgm:spPr/>
      <dgm:t>
        <a:bodyPr/>
        <a:lstStyle/>
        <a:p>
          <a:endParaRPr lang="en-US"/>
        </a:p>
      </dgm:t>
    </dgm:pt>
    <dgm:pt modelId="{7FB5983D-424B-48B5-B349-CB12B56B48D7}" type="parTrans" cxnId="{DFD1F6D1-A0D9-4746-9614-088784B91BAB}">
      <dgm:prSet/>
      <dgm:spPr/>
      <dgm:t>
        <a:bodyPr/>
        <a:lstStyle/>
        <a:p>
          <a:endParaRPr lang="en-US"/>
        </a:p>
      </dgm:t>
    </dgm:pt>
    <dgm:pt modelId="{491C44FA-C707-4C36-B7F4-5403C7B0E1A6}" type="pres">
      <dgm:prSet presAssocID="{1FA1FDFB-59AB-458A-8BAC-F99AB5A32AD9}" presName="Name0" presStyleCnt="0">
        <dgm:presLayoutVars>
          <dgm:chMax val="4"/>
          <dgm:resizeHandles val="exact"/>
        </dgm:presLayoutVars>
      </dgm:prSet>
      <dgm:spPr/>
    </dgm:pt>
    <dgm:pt modelId="{D4E20993-490E-4627-8EDA-5061B8A45FCE}" type="pres">
      <dgm:prSet presAssocID="{1FA1FDFB-59AB-458A-8BAC-F99AB5A32AD9}" presName="ellipse" presStyleLbl="trBgShp" presStyleIdx="0" presStyleCnt="1" custLinFactNeighborX="1274" custLinFactNeighborY="47910"/>
      <dgm:spPr/>
    </dgm:pt>
    <dgm:pt modelId="{DEF08DAF-C583-4CBD-A3AE-1E5BF9198AFA}" type="pres">
      <dgm:prSet presAssocID="{1FA1FDFB-59AB-458A-8BAC-F99AB5A32AD9}" presName="arrow1" presStyleLbl="fgShp" presStyleIdx="0" presStyleCnt="1" custLinFactY="19806" custLinFactNeighborX="-5061" custLinFactNeighborY="100000"/>
      <dgm:spPr/>
    </dgm:pt>
    <dgm:pt modelId="{BBE50DFF-F092-449E-9B95-3276C6D73E95}" type="pres">
      <dgm:prSet presAssocID="{1FA1FDFB-59AB-458A-8BAC-F99AB5A32AD9}" presName="rectangle" presStyleLbl="revTx" presStyleIdx="0" presStyleCnt="1" custScaleX="94898" custScaleY="71532" custLinFactNeighborX="199" custLinFactNeighborY="36731">
        <dgm:presLayoutVars>
          <dgm:bulletEnabled val="1"/>
        </dgm:presLayoutVars>
      </dgm:prSet>
      <dgm:spPr/>
    </dgm:pt>
    <dgm:pt modelId="{6937C5F3-A97F-4146-AA50-18EB150C0C85}" type="pres">
      <dgm:prSet presAssocID="{B4D56235-BE72-4B96-884A-DEC35E25A074}" presName="item1" presStyleLbl="node1" presStyleIdx="0" presStyleCnt="3" custLinFactNeighborX="26222" custLinFactNeighborY="-28734">
        <dgm:presLayoutVars>
          <dgm:bulletEnabled val="1"/>
        </dgm:presLayoutVars>
      </dgm:prSet>
      <dgm:spPr/>
    </dgm:pt>
    <dgm:pt modelId="{F0920C01-6AFB-44CF-A083-AA42972CBB9F}" type="pres">
      <dgm:prSet presAssocID="{1C01B290-83B1-4012-97AA-4EA7316B3936}" presName="item2" presStyleLbl="node1" presStyleIdx="1" presStyleCnt="3" custLinFactNeighborX="58854" custLinFactNeighborY="-34470">
        <dgm:presLayoutVars>
          <dgm:bulletEnabled val="1"/>
        </dgm:presLayoutVars>
      </dgm:prSet>
      <dgm:spPr/>
    </dgm:pt>
    <dgm:pt modelId="{CDC6E79B-B1A8-4294-A97D-F043CDFD1A8E}" type="pres">
      <dgm:prSet presAssocID="{02FCDFFE-4677-4548-9889-89CAA6D74924}" presName="item3" presStyleLbl="node1" presStyleIdx="2" presStyleCnt="3" custLinFactY="43951" custLinFactNeighborX="-71111" custLinFactNeighborY="100000">
        <dgm:presLayoutVars>
          <dgm:bulletEnabled val="1"/>
        </dgm:presLayoutVars>
      </dgm:prSet>
      <dgm:spPr/>
    </dgm:pt>
    <dgm:pt modelId="{DEE4B96F-7F03-4AC4-AF61-3970F7381FBB}" type="pres">
      <dgm:prSet presAssocID="{1FA1FDFB-59AB-458A-8BAC-F99AB5A32AD9}" presName="funnel" presStyleLbl="trAlignAcc1" presStyleIdx="0" presStyleCnt="1" custScaleX="104587" custScaleY="103138" custLinFactNeighborX="-3008" custLinFactNeighborY="16472"/>
      <dgm:spPr/>
    </dgm:pt>
  </dgm:ptLst>
  <dgm:cxnLst>
    <dgm:cxn modelId="{DDA0F132-AE89-49CF-95AC-FFF90D8486F7}" type="presOf" srcId="{1FA1FDFB-59AB-458A-8BAC-F99AB5A32AD9}" destId="{491C44FA-C707-4C36-B7F4-5403C7B0E1A6}" srcOrd="0" destOrd="0" presId="urn:microsoft.com/office/officeart/2005/8/layout/funnel1"/>
    <dgm:cxn modelId="{21460E38-F82D-4FDE-9588-81DEE7D6CF8A}" srcId="{1FA1FDFB-59AB-458A-8BAC-F99AB5A32AD9}" destId="{F5E4B102-2595-40C9-B6E9-BBBF40BFBA32}" srcOrd="0" destOrd="0" parTransId="{C727C04D-4870-4AA8-9203-ACA9C24B2EC7}" sibTransId="{CBDF231B-9C18-4461-B041-368F7F754B15}"/>
    <dgm:cxn modelId="{7DD0123B-AD8C-4FBA-850D-FF7A7FF28173}" srcId="{1FA1FDFB-59AB-458A-8BAC-F99AB5A32AD9}" destId="{B4D56235-BE72-4B96-884A-DEC35E25A074}" srcOrd="1" destOrd="0" parTransId="{669E3EC1-59B7-4E50-A89A-FEB62AA98388}" sibTransId="{AF2B39B2-B680-4E30-8E7E-E4AD17BF2A9B}"/>
    <dgm:cxn modelId="{B6319852-F3B4-4CEF-A452-03BD896567BD}" type="presOf" srcId="{02FCDFFE-4677-4548-9889-89CAA6D74924}" destId="{BBE50DFF-F092-449E-9B95-3276C6D73E95}" srcOrd="0" destOrd="0" presId="urn:microsoft.com/office/officeart/2005/8/layout/funnel1"/>
    <dgm:cxn modelId="{3A40BC52-2B4E-41BD-A8E1-CDD583398DD3}" srcId="{1FA1FDFB-59AB-458A-8BAC-F99AB5A32AD9}" destId="{1C01B290-83B1-4012-97AA-4EA7316B3936}" srcOrd="2" destOrd="0" parTransId="{71D209F8-45EC-4E90-8CD9-EC87FB7D82F6}" sibTransId="{36FBA741-61C4-40E0-B70A-10112A35C02D}"/>
    <dgm:cxn modelId="{83544E9E-9400-477B-8D0A-1C439576E68B}" type="presOf" srcId="{1C01B290-83B1-4012-97AA-4EA7316B3936}" destId="{6937C5F3-A97F-4146-AA50-18EB150C0C85}" srcOrd="0" destOrd="0" presId="urn:microsoft.com/office/officeart/2005/8/layout/funnel1"/>
    <dgm:cxn modelId="{4A1345B1-A5E6-4446-8F4F-7BE402CCDF35}" type="presOf" srcId="{F5E4B102-2595-40C9-B6E9-BBBF40BFBA32}" destId="{CDC6E79B-B1A8-4294-A97D-F043CDFD1A8E}" srcOrd="0" destOrd="0" presId="urn:microsoft.com/office/officeart/2005/8/layout/funnel1"/>
    <dgm:cxn modelId="{DFD1F6D1-A0D9-4746-9614-088784B91BAB}" srcId="{1FA1FDFB-59AB-458A-8BAC-F99AB5A32AD9}" destId="{02FCDFFE-4677-4548-9889-89CAA6D74924}" srcOrd="3" destOrd="0" parTransId="{7FB5983D-424B-48B5-B349-CB12B56B48D7}" sibTransId="{08DCF50B-6840-4AAB-868D-92A234E1343C}"/>
    <dgm:cxn modelId="{B94A4EFA-B218-4D83-8315-34E6C7B62E1F}" type="presOf" srcId="{B4D56235-BE72-4B96-884A-DEC35E25A074}" destId="{F0920C01-6AFB-44CF-A083-AA42972CBB9F}" srcOrd="0" destOrd="0" presId="urn:microsoft.com/office/officeart/2005/8/layout/funnel1"/>
    <dgm:cxn modelId="{99A375D5-DBA6-4D80-B303-359CDCFA8A97}" type="presParOf" srcId="{491C44FA-C707-4C36-B7F4-5403C7B0E1A6}" destId="{D4E20993-490E-4627-8EDA-5061B8A45FCE}" srcOrd="0" destOrd="0" presId="urn:microsoft.com/office/officeart/2005/8/layout/funnel1"/>
    <dgm:cxn modelId="{957DF816-3673-4C65-8CC9-826DA93BD5F0}" type="presParOf" srcId="{491C44FA-C707-4C36-B7F4-5403C7B0E1A6}" destId="{DEF08DAF-C583-4CBD-A3AE-1E5BF9198AFA}" srcOrd="1" destOrd="0" presId="urn:microsoft.com/office/officeart/2005/8/layout/funnel1"/>
    <dgm:cxn modelId="{332CCA8E-6973-461D-88BD-72153570EC71}" type="presParOf" srcId="{491C44FA-C707-4C36-B7F4-5403C7B0E1A6}" destId="{BBE50DFF-F092-449E-9B95-3276C6D73E95}" srcOrd="2" destOrd="0" presId="urn:microsoft.com/office/officeart/2005/8/layout/funnel1"/>
    <dgm:cxn modelId="{096827C7-BB00-440C-ADDF-DA2F34C9BE07}" type="presParOf" srcId="{491C44FA-C707-4C36-B7F4-5403C7B0E1A6}" destId="{6937C5F3-A97F-4146-AA50-18EB150C0C85}" srcOrd="3" destOrd="0" presId="urn:microsoft.com/office/officeart/2005/8/layout/funnel1"/>
    <dgm:cxn modelId="{1DB1C328-FE89-468B-AACC-953C156039B3}" type="presParOf" srcId="{491C44FA-C707-4C36-B7F4-5403C7B0E1A6}" destId="{F0920C01-6AFB-44CF-A083-AA42972CBB9F}" srcOrd="4" destOrd="0" presId="urn:microsoft.com/office/officeart/2005/8/layout/funnel1"/>
    <dgm:cxn modelId="{3A608A7B-E6A3-457B-9113-660F62B9EE81}" type="presParOf" srcId="{491C44FA-C707-4C36-B7F4-5403C7B0E1A6}" destId="{CDC6E79B-B1A8-4294-A97D-F043CDFD1A8E}" srcOrd="5" destOrd="0" presId="urn:microsoft.com/office/officeart/2005/8/layout/funnel1"/>
    <dgm:cxn modelId="{9C7E1FD9-929C-4F0C-A474-151C3ADFFCF3}" type="presParOf" srcId="{491C44FA-C707-4C36-B7F4-5403C7B0E1A6}" destId="{DEE4B96F-7F03-4AC4-AF61-3970F7381FBB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20993-490E-4627-8EDA-5061B8A45FCE}">
      <dsp:nvSpPr>
        <dsp:cNvPr id="0" name=""/>
        <dsp:cNvSpPr/>
      </dsp:nvSpPr>
      <dsp:spPr>
        <a:xfrm>
          <a:off x="1337272" y="840419"/>
          <a:ext cx="3499778" cy="121542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F08DAF-C583-4CBD-A3AE-1E5BF9198AFA}">
      <dsp:nvSpPr>
        <dsp:cNvPr id="0" name=""/>
        <dsp:cNvSpPr/>
      </dsp:nvSpPr>
      <dsp:spPr>
        <a:xfrm>
          <a:off x="2674547" y="3754331"/>
          <a:ext cx="678251" cy="434081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57200" extrusionH="600" contourW="3000" prstMaterial="plastic">
          <a:bevelT w="80600" h="18600" prst="relaxedInset"/>
          <a:bevelB w="80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E50DFF-F092-449E-9B95-3276C6D73E95}">
      <dsp:nvSpPr>
        <dsp:cNvPr id="0" name=""/>
        <dsp:cNvSpPr/>
      </dsp:nvSpPr>
      <dsp:spPr>
        <a:xfrm>
          <a:off x="1509725" y="3758609"/>
          <a:ext cx="3089506" cy="582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1" kern="1200" dirty="0"/>
        </a:p>
      </dsp:txBody>
      <dsp:txXfrm>
        <a:off x="1509725" y="3758609"/>
        <a:ext cx="3089506" cy="582200"/>
      </dsp:txXfrm>
    </dsp:sp>
    <dsp:sp modelId="{6937C5F3-A97F-4146-AA50-18EB150C0C85}">
      <dsp:nvSpPr>
        <dsp:cNvPr id="0" name=""/>
        <dsp:cNvSpPr/>
      </dsp:nvSpPr>
      <dsp:spPr>
        <a:xfrm>
          <a:off x="2885216" y="1216605"/>
          <a:ext cx="1220852" cy="12208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Federal IT Strategy</a:t>
          </a:r>
        </a:p>
      </dsp:txBody>
      <dsp:txXfrm>
        <a:off x="3064006" y="1395395"/>
        <a:ext cx="863272" cy="863272"/>
      </dsp:txXfrm>
    </dsp:sp>
    <dsp:sp modelId="{F0920C01-6AFB-44CF-A083-AA42972CBB9F}">
      <dsp:nvSpPr>
        <dsp:cNvPr id="0" name=""/>
        <dsp:cNvSpPr/>
      </dsp:nvSpPr>
      <dsp:spPr>
        <a:xfrm>
          <a:off x="2410017" y="230666"/>
          <a:ext cx="1220852" cy="12208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CDC IT Strategy</a:t>
          </a:r>
        </a:p>
      </dsp:txBody>
      <dsp:txXfrm>
        <a:off x="2588807" y="409456"/>
        <a:ext cx="863272" cy="863272"/>
      </dsp:txXfrm>
    </dsp:sp>
    <dsp:sp modelId="{CDC6E79B-B1A8-4294-A97D-F043CDFD1A8E}">
      <dsp:nvSpPr>
        <dsp:cNvPr id="0" name=""/>
        <dsp:cNvSpPr/>
      </dsp:nvSpPr>
      <dsp:spPr>
        <a:xfrm>
          <a:off x="2071319" y="2113749"/>
          <a:ext cx="1220852" cy="12208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HHS IT Strategy</a:t>
          </a:r>
        </a:p>
      </dsp:txBody>
      <dsp:txXfrm>
        <a:off x="2250109" y="2292539"/>
        <a:ext cx="863272" cy="863272"/>
      </dsp:txXfrm>
    </dsp:sp>
    <dsp:sp modelId="{DEE4B96F-7F03-4AC4-AF61-3970F7381FBB}">
      <dsp:nvSpPr>
        <dsp:cNvPr id="0" name=""/>
        <dsp:cNvSpPr/>
      </dsp:nvSpPr>
      <dsp:spPr>
        <a:xfrm>
          <a:off x="947533" y="561730"/>
          <a:ext cx="3972432" cy="3133917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extrusionH="50600">
          <a:bevelT w="101600" h="80600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3C0F0-286F-46B1-8908-DE2A750967A9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3F380-BECD-4E05-938B-9C276D287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58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32CD6-180B-4F25-BA14-CF5FF4B9D384}" type="datetimeFigureOut">
              <a:rPr lang="en-US" smtClean="0"/>
              <a:t>10/10/2018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8262D-A1BC-4619-BBAA-92A3B1DFD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05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first EA Critical Partner training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8262D-A1BC-4619-BBAA-92A3B1DFD6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14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8262D-A1BC-4619-BBAA-92A3B1DFD6F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599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2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8262D-A1BC-4619-BBAA-92A3B1DFD6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69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i="1" dirty="0"/>
              <a:t>Architecture = Design</a:t>
            </a:r>
          </a:p>
          <a:p>
            <a:pPr marL="0" indent="0">
              <a:buNone/>
            </a:pPr>
            <a:endParaRPr lang="en-US" sz="1200" i="1" dirty="0"/>
          </a:p>
          <a:p>
            <a:pPr marL="0" indent="0">
              <a:buNone/>
            </a:pPr>
            <a:r>
              <a:rPr lang="en-US" sz="1200" i="1" dirty="0"/>
              <a:t>Design = Strategy</a:t>
            </a:r>
          </a:p>
          <a:p>
            <a:pPr marL="0" indent="0">
              <a:buNone/>
            </a:pPr>
            <a:endParaRPr lang="en-US" sz="1200" i="1" dirty="0"/>
          </a:p>
          <a:p>
            <a:pPr marL="0" indent="0">
              <a:buNone/>
            </a:pPr>
            <a:r>
              <a:rPr lang="en-US" sz="1200" i="1" dirty="0"/>
              <a:t>Strategy = Planning</a:t>
            </a:r>
          </a:p>
          <a:p>
            <a:pPr marL="0" indent="0">
              <a:buNone/>
            </a:pPr>
            <a:endParaRPr lang="en-US" sz="1200" i="1" dirty="0"/>
          </a:p>
          <a:p>
            <a:pPr marL="0" indent="0">
              <a:buNone/>
            </a:pPr>
            <a:r>
              <a:rPr lang="en-US" dirty="0"/>
              <a:t>Enterprise perspective looking across project and organization silos eliminates rework</a:t>
            </a:r>
            <a:endParaRPr lang="en-US" sz="1200" i="1" dirty="0"/>
          </a:p>
          <a:p>
            <a:pPr marL="0" indent="0">
              <a:buNone/>
            </a:pPr>
            <a:r>
              <a:rPr lang="en-US" dirty="0"/>
              <a:t>Agility through improved interoperability &amp; reuse</a:t>
            </a:r>
            <a:endParaRPr lang="en-US" sz="1200" i="1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8262D-A1BC-4619-BBAA-92A3B1DFD6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8588" indent="-128588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Best practices, generalized solution that can used to select the solution capabilities, interactions, procedures to improve project success.</a:t>
            </a:r>
          </a:p>
          <a:p>
            <a:pPr marL="128588" indent="-128588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Accelerates the realization of goals and re-use of effective solutions through incorporating industry best practices.</a:t>
            </a:r>
          </a:p>
          <a:p>
            <a:pPr marL="128588" indent="-128588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Common taxonomy for technology selection and technology components re-use</a:t>
            </a:r>
          </a:p>
          <a:p>
            <a:pPr marL="128588" indent="-128588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Technology speak, but still a useful communication tool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8262D-A1BC-4619-BBAA-92A3B1DFD6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72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EA CP helps contractors, developers, architects, and project teams to understand federation-wide IT strategies and how solution’s designs can align to those strategies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8262D-A1BC-4619-BBAA-92A3B1DFD6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25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i="1" dirty="0"/>
              <a:t>Architecture = Design</a:t>
            </a:r>
          </a:p>
          <a:p>
            <a:pPr marL="0" indent="0">
              <a:buNone/>
            </a:pPr>
            <a:endParaRPr lang="en-US" sz="1200" i="1" dirty="0"/>
          </a:p>
          <a:p>
            <a:pPr marL="0" indent="0">
              <a:buNone/>
            </a:pPr>
            <a:r>
              <a:rPr lang="en-US" sz="1200" i="1" dirty="0"/>
              <a:t>Design = Strategy</a:t>
            </a:r>
          </a:p>
          <a:p>
            <a:pPr marL="0" indent="0">
              <a:buNone/>
            </a:pPr>
            <a:endParaRPr lang="en-US" sz="1200" i="1" dirty="0"/>
          </a:p>
          <a:p>
            <a:pPr marL="0" indent="0">
              <a:buNone/>
            </a:pPr>
            <a:r>
              <a:rPr lang="en-US" sz="1200" i="1" dirty="0"/>
              <a:t>Strategy = Planning</a:t>
            </a:r>
          </a:p>
          <a:p>
            <a:pPr marL="0" indent="0">
              <a:buNone/>
            </a:pPr>
            <a:endParaRPr lang="en-US" sz="1200" i="1" dirty="0"/>
          </a:p>
          <a:p>
            <a:pPr marL="0" indent="0">
              <a:buNone/>
            </a:pPr>
            <a:r>
              <a:rPr lang="en-US" dirty="0"/>
              <a:t>Enterprise perspective looking across project and organization silos eliminates rework</a:t>
            </a:r>
            <a:endParaRPr lang="en-US" sz="1200" i="1" dirty="0"/>
          </a:p>
          <a:p>
            <a:pPr marL="0" indent="0">
              <a:buNone/>
            </a:pPr>
            <a:r>
              <a:rPr lang="en-US" dirty="0"/>
              <a:t>Agility through improved interoperability &amp; reuse</a:t>
            </a:r>
            <a:endParaRPr lang="en-US" sz="1200" i="1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8262D-A1BC-4619-BBAA-92A3B1DFD6F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03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Talking Points</a:t>
            </a:r>
          </a:p>
          <a:p>
            <a:endParaRPr lang="en-US" dirty="0"/>
          </a:p>
          <a:p>
            <a:r>
              <a:rPr lang="en-US" dirty="0"/>
              <a:t>Talk introduction about EPLC stages and what the role of the EA CP is in terms of ensuring business alignment, shared services, Open Data, Cloud, etc.</a:t>
            </a:r>
          </a:p>
          <a:p>
            <a:r>
              <a:rPr lang="en-US" dirty="0"/>
              <a:t>Brief about the role of the HEAR and why we (they) must begin using it during the EPLC gates </a:t>
            </a:r>
          </a:p>
          <a:p>
            <a:r>
              <a:rPr lang="en-US" dirty="0"/>
              <a:t>Next we will talk about each Stage Gate phase and their responsibilities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8262D-A1BC-4619-BBAA-92A3B1DFD6F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91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Talking Points</a:t>
            </a:r>
          </a:p>
          <a:p>
            <a:endParaRPr lang="en-US" dirty="0"/>
          </a:p>
          <a:p>
            <a:r>
              <a:rPr lang="en-US" dirty="0"/>
              <a:t>Talk introduction about EPLC stages and what the role of the EA CP is in terms of ensuring business alignment, shared services, Open Data, Cloud, etc.</a:t>
            </a:r>
          </a:p>
          <a:p>
            <a:r>
              <a:rPr lang="en-US" dirty="0"/>
              <a:t>Brief about the role of the HEAR and why we (they) must begin using it during the EPLC gates </a:t>
            </a:r>
          </a:p>
          <a:p>
            <a:r>
              <a:rPr lang="en-US" dirty="0"/>
              <a:t>Next we will talk about each Stage Gate phase and their responsibilities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8262D-A1BC-4619-BBAA-92A3B1DFD6F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28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>
                <a:solidFill>
                  <a:srgbClr val="323232"/>
                </a:solidFill>
                <a:latin typeface="ibm-plex-sans"/>
              </a:rPr>
              <a:t>The customer wants to start a home shopping capability, with the ability to offer every single service in several ways: telephone call center, Internet, or in-store kiosk.</a:t>
            </a:r>
          </a:p>
          <a:p>
            <a:pPr fontAlgn="base"/>
            <a:r>
              <a:rPr lang="en-US" dirty="0">
                <a:solidFill>
                  <a:srgbClr val="323232"/>
                </a:solidFill>
                <a:latin typeface="ibm-plex-sans"/>
              </a:rPr>
              <a:t>The company environment consists of a main office, and a warehouse at a separate location. The call center is outsourced.</a:t>
            </a:r>
            <a:endParaRPr lang="en-US" b="0" i="0" dirty="0">
              <a:solidFill>
                <a:srgbClr val="323232"/>
              </a:solidFill>
              <a:effectLst/>
              <a:latin typeface="ibm-plex-san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F9508-5C37-41DF-AA9B-714D60406F7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201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>
                <a:solidFill>
                  <a:srgbClr val="323232"/>
                </a:solidFill>
                <a:latin typeface="ibm-plex-sans"/>
              </a:rPr>
              <a:t>The customer wants to start a home shopping capability, with the ability to offer every single service in several ways: telephone call center, Internet, or in-store kiosk.</a:t>
            </a:r>
          </a:p>
          <a:p>
            <a:pPr fontAlgn="base"/>
            <a:r>
              <a:rPr lang="en-US" dirty="0">
                <a:solidFill>
                  <a:srgbClr val="323232"/>
                </a:solidFill>
                <a:latin typeface="ibm-plex-sans"/>
              </a:rPr>
              <a:t>The company environment consists of a main office, and a warehouse at a separate location. The call center is outsourced.</a:t>
            </a:r>
            <a:endParaRPr lang="en-US" b="0" i="0" dirty="0">
              <a:solidFill>
                <a:srgbClr val="323232"/>
              </a:solidFill>
              <a:effectLst/>
              <a:latin typeface="ibm-plex-san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F9508-5C37-41DF-AA9B-714D60406F7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183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/>
              <a:t>[TALK ABOUT HOW THIS MA BE USEFUL TO CRITICAL PARTNERS]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F9508-5C37-41DF-AA9B-714D60406F7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69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F9508-5C37-41DF-AA9B-714D60406F7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814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>
                <a:solidFill>
                  <a:srgbClr val="323232"/>
                </a:solidFill>
                <a:latin typeface="ibm-plex-sans"/>
              </a:rPr>
              <a:t>The customer wants to start a home shopping capability, with the ability to offer every single service in several ways: telephone call center, Internet, or in-store kiosk.</a:t>
            </a:r>
          </a:p>
          <a:p>
            <a:pPr fontAlgn="base"/>
            <a:r>
              <a:rPr lang="en-US" dirty="0">
                <a:solidFill>
                  <a:srgbClr val="323232"/>
                </a:solidFill>
                <a:latin typeface="ibm-plex-sans"/>
              </a:rPr>
              <a:t>The company environment consists of a main office, and a warehouse at a separate location. The call center is outsourced.</a:t>
            </a:r>
            <a:endParaRPr lang="en-US" b="0" i="0" dirty="0">
              <a:solidFill>
                <a:srgbClr val="323232"/>
              </a:solidFill>
              <a:effectLst/>
              <a:latin typeface="ibm-plex-san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F9508-5C37-41DF-AA9B-714D60406F7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880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87912B-E51D-42BE-9819-5F78099136CC}" type="slidenum">
              <a:rPr lang="en-US"/>
              <a:pPr/>
              <a:t>19</a:t>
            </a:fld>
            <a:endParaRPr lang="en-US" dirty="0"/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565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87912B-E51D-42BE-9819-5F78099136CC}" type="slidenum">
              <a:rPr lang="en-US"/>
              <a:pPr/>
              <a:t>20</a:t>
            </a:fld>
            <a:endParaRPr lang="en-US" dirty="0"/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5749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87912B-E51D-42BE-9819-5F78099136CC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087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3F9508-5C37-41DF-AA9B-714D60406F7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71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981200"/>
            <a:ext cx="8229600" cy="1676400"/>
          </a:xfrm>
          <a:prstGeom prst="rect">
            <a:avLst/>
          </a:prstGeom>
        </p:spPr>
        <p:txBody>
          <a:bodyPr/>
          <a:lstStyle>
            <a:lvl1pPr>
              <a:lnSpc>
                <a:spcPts val="3000"/>
              </a:lnSpc>
              <a:defRPr sz="2800" b="1" baseline="0">
                <a:solidFill>
                  <a:srgbClr val="00439C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Title of Presentation – Calibri</a:t>
            </a:r>
            <a:br>
              <a:rPr lang="en-US" dirty="0"/>
            </a:br>
            <a:r>
              <a:rPr lang="en-US" dirty="0"/>
              <a:t>Bold, 28pt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 – Calibri, Bold, 20pt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71600" y="4505325"/>
            <a:ext cx="6400800" cy="676275"/>
          </a:xfrm>
          <a:prstGeom prst="rect">
            <a:avLst/>
          </a:prstGeom>
        </p:spPr>
        <p:txBody>
          <a:bodyPr/>
          <a:lstStyle>
            <a:lvl1pPr marL="342900" marR="0" indent="-342900" algn="ctr" defTabSz="914400" rtl="0" eaLnBrk="1" fontAlgn="auto" latinLnBrk="0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00439C"/>
              </a:buClr>
              <a:buSzTx/>
              <a:buFont typeface="Arial" panose="020B0604020202020204" pitchFamily="34" charset="0"/>
              <a:buNone/>
              <a:tabLst/>
              <a:defRPr sz="1800" b="1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marL="342900" marR="0" lvl="0" indent="-342900" algn="ctr" defTabSz="914400" rtl="0" eaLnBrk="1" fontAlgn="auto" latinLnBrk="0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00439C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dirty="0"/>
              <a:t>Title of Event - Calibri, Bold, 18pt</a:t>
            </a:r>
          </a:p>
          <a:p>
            <a:pPr marL="342900" marR="0" lvl="0" indent="-342900" algn="ctr" defTabSz="914400" rtl="0" eaLnBrk="1" fontAlgn="auto" latinLnBrk="0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00439C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dirty="0"/>
              <a:t>Date of Event - Calibri, Bold, 18pt</a:t>
            </a:r>
          </a:p>
        </p:txBody>
      </p:sp>
    </p:spTree>
    <p:extLst>
      <p:ext uri="{BB962C8B-B14F-4D97-AF65-F5344CB8AC3E}">
        <p14:creationId xmlns:p14="http://schemas.microsoft.com/office/powerpoint/2010/main" val="3397569103"/>
      </p:ext>
    </p:extLst>
  </p:cSld>
  <p:clrMapOvr>
    <a:masterClrMapping/>
  </p:clrMapOvr>
  <p:transition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371600"/>
            <a:ext cx="8229600" cy="46482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439C"/>
              </a:buClr>
              <a:buSzPct val="100000"/>
              <a:buFont typeface="Arial" panose="020B0604020202020204" pitchFamily="34" charset="0"/>
              <a:buChar char="•"/>
              <a:defRPr sz="2400" b="1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buClr>
                <a:schemeClr val="tx1"/>
              </a:buClr>
              <a:buSzPct val="65000"/>
              <a:buFont typeface="Courier New" panose="02070309020205020404" pitchFamily="49" charset="0"/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buClr>
                <a:schemeClr val="tx1"/>
              </a:buClr>
              <a:buSzPct val="10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buClr>
                <a:schemeClr val="tx1"/>
              </a:buClr>
              <a:buSzPct val="65000"/>
              <a:buFont typeface="Courier New" pitchFamily="49" charset="0"/>
              <a:buChar char="o"/>
              <a:defRPr sz="1800" baseline="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buClr>
                <a:schemeClr val="tx1"/>
              </a:buClr>
              <a:buSzPct val="65000"/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First level – Calibri, Bold, 24pt</a:t>
            </a:r>
          </a:p>
          <a:p>
            <a:pPr lvl="1"/>
            <a:r>
              <a:rPr lang="en-US" dirty="0"/>
              <a:t>Second level – Calibri, 20pt</a:t>
            </a:r>
          </a:p>
          <a:p>
            <a:pPr lvl="2"/>
            <a:r>
              <a:rPr lang="en-US" dirty="0"/>
              <a:t>Third level – Calibri, 18pt	</a:t>
            </a:r>
          </a:p>
          <a:p>
            <a:pPr lvl="3"/>
            <a:r>
              <a:rPr lang="en-US" dirty="0"/>
              <a:t>Fourth level – Calibri, 18pt</a:t>
            </a:r>
          </a:p>
          <a:p>
            <a:pPr lvl="4"/>
            <a:r>
              <a:rPr lang="en-US" dirty="0"/>
              <a:t>Fifth level – Calibri, 16pt</a:t>
            </a:r>
          </a:p>
        </p:txBody>
      </p:sp>
      <p:pic>
        <p:nvPicPr>
          <p:cNvPr id="4" name="Picture 3" descr="CDC logo Head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9464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28800" y="66675"/>
            <a:ext cx="7086600" cy="6858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3382"/>
      </p:ext>
    </p:extLst>
  </p:cSld>
  <p:clrMapOvr>
    <a:masterClrMapping/>
  </p:clrMapOvr>
  <p:transition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 - Data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956595"/>
            <a:ext cx="8229600" cy="5444205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439C"/>
              </a:buClr>
              <a:buSzPct val="100000"/>
              <a:buFont typeface="Arial" panose="020B0604020202020204" pitchFamily="34" charset="0"/>
              <a:buChar char="•"/>
              <a:defRPr sz="2400" b="1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buClr>
                <a:schemeClr val="tx1"/>
              </a:buClr>
              <a:buSzPct val="65000"/>
              <a:buFont typeface="Courier New" panose="02070309020205020404" pitchFamily="49" charset="0"/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buClr>
                <a:schemeClr val="tx1"/>
              </a:buClr>
              <a:buSzPct val="10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buClr>
                <a:schemeClr val="tx1"/>
              </a:buClr>
              <a:buSzPct val="65000"/>
              <a:buFont typeface="Courier New" pitchFamily="49" charset="0"/>
              <a:buChar char="o"/>
              <a:defRPr sz="1800" baseline="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buClr>
                <a:schemeClr val="tx1"/>
              </a:buClr>
              <a:buSzPct val="70000"/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First level – Calibri, Bold, 24pt</a:t>
            </a:r>
          </a:p>
          <a:p>
            <a:pPr lvl="1"/>
            <a:r>
              <a:rPr lang="en-US" dirty="0"/>
              <a:t>Second level – Calibri, 20pt</a:t>
            </a:r>
          </a:p>
          <a:p>
            <a:pPr lvl="2"/>
            <a:r>
              <a:rPr lang="en-US" dirty="0"/>
              <a:t>Third level – Calibri, 18pt	</a:t>
            </a:r>
          </a:p>
          <a:p>
            <a:pPr lvl="3"/>
            <a:r>
              <a:rPr lang="en-US" dirty="0"/>
              <a:t>Fourth level – Calibri, 18pt</a:t>
            </a:r>
          </a:p>
          <a:p>
            <a:pPr lvl="4"/>
            <a:r>
              <a:rPr lang="en-US" dirty="0"/>
              <a:t>Fifth level – Calibri, 16pt</a:t>
            </a:r>
          </a:p>
        </p:txBody>
      </p:sp>
      <p:pic>
        <p:nvPicPr>
          <p:cNvPr id="4" name="Picture 3" descr="CDC logo Head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9464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28800" y="66675"/>
            <a:ext cx="7086600" cy="6858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102426"/>
      </p:ext>
    </p:extLst>
  </p:cSld>
  <p:clrMapOvr>
    <a:masterClrMapping/>
  </p:clrMapOvr>
  <p:transition/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DC logo Head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9464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28800" y="66675"/>
            <a:ext cx="7086600" cy="6858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855965"/>
      </p:ext>
    </p:extLst>
  </p:cSld>
  <p:clrMapOvr>
    <a:masterClrMapping/>
  </p:clrMapOvr>
  <p:transition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439C"/>
              </a:buClr>
              <a:buFont typeface="Arial" panose="020B0604020202020204" pitchFamily="34" charset="0"/>
              <a:buChar char="•"/>
              <a:defRPr sz="2200" b="1">
                <a:latin typeface="Calibri" panose="020F0502020204030204" pitchFamily="34" charset="0"/>
              </a:defRPr>
            </a:lvl1pPr>
            <a:lvl2pPr marL="742950" indent="-285750">
              <a:buSzPct val="65000"/>
              <a:buFont typeface="Courier New" panose="02070309020205020404" pitchFamily="49" charset="0"/>
              <a:buChar char="o"/>
              <a:defRPr sz="2000">
                <a:latin typeface="Calibri" panose="020F050202020403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>
                <a:latin typeface="Calibri" panose="020F0502020204030204" pitchFamily="34" charset="0"/>
              </a:defRPr>
            </a:lvl3pPr>
            <a:lvl4pPr marL="1600200" indent="-228600">
              <a:buSzPct val="65000"/>
              <a:buFont typeface="Courier New" panose="02070309020205020404" pitchFamily="49" charset="0"/>
              <a:buChar char="o"/>
              <a:defRPr sz="1800">
                <a:latin typeface="Calibri" panose="020F0502020204030204" pitchFamily="34" charset="0"/>
              </a:defRPr>
            </a:lvl4pPr>
            <a:lvl5pPr marL="2057400" indent="-228600">
              <a:buSzPct val="65000"/>
              <a:buFont typeface="Arial" panose="020B0604020202020204" pitchFamily="34" charset="0"/>
              <a:buChar char="•"/>
              <a:defRPr sz="16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 descr="CDC logo Head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89464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28800" y="66675"/>
            <a:ext cx="7086600" cy="6858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45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981200"/>
            <a:ext cx="8229600" cy="1676400"/>
          </a:xfrm>
          <a:prstGeom prst="rect">
            <a:avLst/>
          </a:prstGeom>
        </p:spPr>
        <p:txBody>
          <a:bodyPr/>
          <a:lstStyle>
            <a:lvl1pPr>
              <a:lnSpc>
                <a:spcPts val="3000"/>
              </a:lnSpc>
              <a:defRPr sz="2800" b="1" baseline="0">
                <a:solidFill>
                  <a:srgbClr val="00439C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Title of Presentation – Calibri</a:t>
            </a:r>
            <a:br>
              <a:rPr lang="en-US" dirty="0"/>
            </a:br>
            <a:r>
              <a:rPr lang="en-US" dirty="0"/>
              <a:t>Bold, 28pt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 – Calibri, Bold, 20pt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71600" y="4505325"/>
            <a:ext cx="6400800" cy="676275"/>
          </a:xfrm>
          <a:prstGeom prst="rect">
            <a:avLst/>
          </a:prstGeom>
        </p:spPr>
        <p:txBody>
          <a:bodyPr/>
          <a:lstStyle>
            <a:lvl1pPr marL="342900" marR="0" indent="-342900" algn="ctr" defTabSz="914400" rtl="0" eaLnBrk="1" fontAlgn="auto" latinLnBrk="0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00439C"/>
              </a:buClr>
              <a:buSzTx/>
              <a:buFont typeface="Arial" panose="020B0604020202020204" pitchFamily="34" charset="0"/>
              <a:buNone/>
              <a:tabLst/>
              <a:defRPr sz="18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marL="342900" marR="0" lvl="0" indent="-342900" algn="ctr" defTabSz="914400" rtl="0" eaLnBrk="1" fontAlgn="auto" latinLnBrk="0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00439C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dirty="0"/>
              <a:t>Title of Event - Calibri, Bold, 18pt</a:t>
            </a:r>
          </a:p>
          <a:p>
            <a:pPr marL="342900" marR="0" lvl="0" indent="-342900" algn="ctr" defTabSz="914400" rtl="0" eaLnBrk="1" fontAlgn="auto" latinLnBrk="0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00439C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dirty="0"/>
              <a:t>Date of Event - Calibri, Bold, 18pt</a:t>
            </a:r>
          </a:p>
        </p:txBody>
      </p:sp>
    </p:spTree>
    <p:extLst>
      <p:ext uri="{BB962C8B-B14F-4D97-AF65-F5344CB8AC3E}">
        <p14:creationId xmlns:p14="http://schemas.microsoft.com/office/powerpoint/2010/main" val="1178876412"/>
      </p:ext>
    </p:extLst>
  </p:cSld>
  <p:clrMapOvr>
    <a:masterClrMapping/>
  </p:clrMapOvr>
  <p:transition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0043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8570421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3800"/>
              </a:lnSpc>
              <a:defRPr sz="3600" b="1" cap="all" baseline="0">
                <a:solidFill>
                  <a:srgbClr val="00439C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Section Header</a:t>
            </a:r>
            <a:br>
              <a:rPr lang="en-US" dirty="0"/>
            </a:br>
            <a:r>
              <a:rPr lang="en-US" dirty="0"/>
              <a:t>Calibri, bold, 36pt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ts val="22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– Calibri, 20pt</a:t>
            </a:r>
          </a:p>
        </p:txBody>
      </p:sp>
    </p:spTree>
    <p:extLst>
      <p:ext uri="{BB962C8B-B14F-4D97-AF65-F5344CB8AC3E}">
        <p14:creationId xmlns:p14="http://schemas.microsoft.com/office/powerpoint/2010/main" val="385248345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 baseline="0">
                <a:solidFill>
                  <a:srgbClr val="00439C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Header – Calibri,</a:t>
            </a:r>
            <a:br>
              <a:rPr lang="en-US" dirty="0"/>
            </a:br>
            <a:r>
              <a:rPr lang="en-US" dirty="0"/>
              <a:t>bold, 20pt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75050" y="273051"/>
            <a:ext cx="5111750" cy="5518150"/>
          </a:xfrm>
          <a:prstGeom prst="rect">
            <a:avLst/>
          </a:prstGeom>
        </p:spPr>
        <p:txBody>
          <a:bodyPr anchor="ctr" anchorCtr="0"/>
          <a:lstStyle>
            <a:lvl1pPr marL="342900" indent="-342900">
              <a:buClr>
                <a:srgbClr val="00439C"/>
              </a:buClr>
              <a:buSzPct val="100000"/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buClr>
                <a:schemeClr val="tx1"/>
              </a:buClr>
              <a:buSzPct val="65000"/>
              <a:buFont typeface="Courier New" panose="02070309020205020404" pitchFamily="49" charset="0"/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buClr>
                <a:schemeClr val="tx1"/>
              </a:buClr>
              <a:buSzPct val="10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buClr>
                <a:schemeClr val="tx1"/>
              </a:buClr>
              <a:buSzPct val="70000"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buClr>
                <a:schemeClr val="tx1"/>
              </a:buClr>
              <a:buSzPct val="65000"/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First level – Calibri, bold, 24pt</a:t>
            </a:r>
          </a:p>
          <a:p>
            <a:pPr lvl="1"/>
            <a:r>
              <a:rPr lang="en-US" dirty="0"/>
              <a:t>Second level – Calibri, 20pt</a:t>
            </a:r>
          </a:p>
          <a:p>
            <a:pPr lvl="2"/>
            <a:r>
              <a:rPr lang="en-US" dirty="0"/>
              <a:t>Third level – Calibri, 18pt	</a:t>
            </a:r>
          </a:p>
          <a:p>
            <a:pPr lvl="3"/>
            <a:r>
              <a:rPr lang="en-US" dirty="0"/>
              <a:t>Fourth level – Calibri, 18pt</a:t>
            </a:r>
          </a:p>
          <a:p>
            <a:pPr lvl="4"/>
            <a:r>
              <a:rPr lang="en-US" dirty="0"/>
              <a:t>Fifth level – Calibri, 16pt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1"/>
            <a:ext cx="3008313" cy="43560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Paragraph of type</a:t>
            </a:r>
          </a:p>
          <a:p>
            <a:pPr lvl="0"/>
            <a:r>
              <a:rPr lang="en-US" dirty="0"/>
              <a:t>Calibri, 14pt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91200"/>
            <a:ext cx="8229600" cy="609600"/>
          </a:xfrm>
          <a:prstGeom prst="rect">
            <a:avLst/>
          </a:prstGeom>
        </p:spPr>
        <p:txBody>
          <a:bodyPr anchor="b"/>
          <a:lstStyle>
            <a:lvl1pPr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* Citations, references, and credits – Myriad Pro, 11pt</a:t>
            </a:r>
          </a:p>
        </p:txBody>
      </p:sp>
    </p:spTree>
    <p:extLst>
      <p:ext uri="{BB962C8B-B14F-4D97-AF65-F5344CB8AC3E}">
        <p14:creationId xmlns:p14="http://schemas.microsoft.com/office/powerpoint/2010/main" val="306177603"/>
      </p:ext>
    </p:extLst>
  </p:cSld>
  <p:clrMapOvr>
    <a:masterClrMapping/>
  </p:clrMapOvr>
  <p:transition/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 baseline="0"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Photo Title – Calibri, Bold, 20pt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ln w="25400">
            <a:solidFill>
              <a:schemeClr val="bg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>
            <a:lvl1pPr marL="0" indent="0">
              <a:buNone/>
              <a:defRPr sz="3200">
                <a:latin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Caption or credits for photo – Calibri, 14pt</a:t>
            </a:r>
          </a:p>
        </p:txBody>
      </p:sp>
    </p:spTree>
    <p:extLst>
      <p:ext uri="{BB962C8B-B14F-4D97-AF65-F5344CB8AC3E}">
        <p14:creationId xmlns:p14="http://schemas.microsoft.com/office/powerpoint/2010/main" val="42457528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2057400"/>
            <a:ext cx="6400800" cy="2057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baseline="0">
                <a:solidFill>
                  <a:srgbClr val="00439C"/>
                </a:solidFill>
                <a:effectLst/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Closing – Calibri, Bold, 28pt</a:t>
            </a:r>
          </a:p>
        </p:txBody>
      </p:sp>
    </p:spTree>
    <p:extLst>
      <p:ext uri="{BB962C8B-B14F-4D97-AF65-F5344CB8AC3E}">
        <p14:creationId xmlns:p14="http://schemas.microsoft.com/office/powerpoint/2010/main" val="3116782645"/>
      </p:ext>
    </p:extLst>
  </p:cSld>
  <p:clrMapOvr>
    <a:masterClrMapping/>
  </p:clrMapOvr>
  <p:transition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86538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DRAFT</a:t>
            </a:r>
          </a:p>
        </p:txBody>
      </p:sp>
      <p:sp>
        <p:nvSpPr>
          <p:cNvPr id="3" name="Slide Number Placeholder 9"/>
          <p:cNvSpPr>
            <a:spLocks noGrp="1" noChangeArrowheads="1"/>
          </p:cNvSpPr>
          <p:nvPr>
            <p:ph type="sldNum" sz="quarter" idx="11"/>
            <p:custDataLst>
              <p:tags r:id="rId2"/>
            </p:custDataLst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D2E8D0-FD08-49BC-8C48-5A1F347512C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73556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itle: Services. Support. Solutions.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135" y="6532179"/>
            <a:ext cx="2206635" cy="1997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53450" y="6503513"/>
            <a:ext cx="52301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756EACE1-9285-4962-956D-F6B3864A9ED6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Picture 6" descr="Top Rule"/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1" y="0"/>
            <a:ext cx="9162288" cy="73152"/>
          </a:xfrm>
          <a:prstGeom prst="rect">
            <a:avLst/>
          </a:prstGeom>
        </p:spPr>
      </p:pic>
      <p:pic>
        <p:nvPicPr>
          <p:cNvPr id="18" name="Picture 17" descr="Title: Enterprise Information Technology Portfolio Office (EITPO) within the Office of the Chief Information Officer (OCIO) within the Office of the Chief Operating Officer (OCOO)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9" y="6435218"/>
            <a:ext cx="4532551" cy="37904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33994" y="6592052"/>
            <a:ext cx="4898730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500" b="0" dirty="0">
                <a:solidFill>
                  <a:srgbClr val="00439C"/>
                </a:solidFill>
                <a:latin typeface="Franklin Gothic Demi" panose="020B0703020102020204" pitchFamily="34" charset="0"/>
              </a:rPr>
              <a:t>Enterprise Information Technology Portfolio Office (EITPO)</a:t>
            </a:r>
          </a:p>
        </p:txBody>
      </p:sp>
    </p:spTree>
    <p:extLst>
      <p:ext uri="{BB962C8B-B14F-4D97-AF65-F5344CB8AC3E}">
        <p14:creationId xmlns:p14="http://schemas.microsoft.com/office/powerpoint/2010/main" val="3356792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5" r:id="rId3"/>
    <p:sldLayoutId id="2147483732" r:id="rId4"/>
    <p:sldLayoutId id="2147483730" r:id="rId5"/>
    <p:sldLayoutId id="2147483724" r:id="rId6"/>
    <p:sldLayoutId id="2147483731" r:id="rId7"/>
    <p:sldLayoutId id="2147483726" r:id="rId8"/>
    <p:sldLayoutId id="2147483727" r:id="rId9"/>
    <p:sldLayoutId id="2147483728" r:id="rId10"/>
    <p:sldLayoutId id="2147483729" r:id="rId11"/>
    <p:sldLayoutId id="2147483719" r:id="rId12"/>
    <p:sldLayoutId id="2147483733" r:id="rId13"/>
  </p:sldLayoutIdLst>
  <p:transition/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8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esp.cdc.gov/sites/ocoo/EITPO/EA/Pages/CDC-EA-Target-Architecture.aspx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esp.cdc.gov/sites/ocoo/EITPO/EA/Reference%20Documents/CDC%20Architecture%20Principles%20v2.0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esp.cdc.gov/sites/ocoo/EITPO/EA/Pages/CDC-EA-Target-Architecture.aspx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22.png"/><Relationship Id="rId4" Type="http://schemas.openxmlformats.org/officeDocument/2006/relationships/hyperlink" Target="https://esp.cdc.gov/sites/ocoo/EITPO/EA/Pages/Default.aspx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esp.cdc.gov/sites/ocoo/EITPO/EPLC/cp/Enterprise%20Architecture%20CP%20Manual.pdf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jp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1.jpg"/><Relationship Id="rId7" Type="http://schemas.openxmlformats.org/officeDocument/2006/relationships/hyperlink" Target="https://esp.cdc.gov/sites/ocoo/EITPO/EPLC/SitePages/Concept%20of%20Operations.aspx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hyperlink" Target="mailto:jrf1@cdc.gov" TargetMode="External"/><Relationship Id="rId5" Type="http://schemas.openxmlformats.org/officeDocument/2006/relationships/hyperlink" Target="mailto:tvm9@cdc.gov" TargetMode="External"/><Relationship Id="rId4" Type="http://schemas.openxmlformats.org/officeDocument/2006/relationships/hyperlink" Target="mailto:ea@cdc.gov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Guidance</a:t>
            </a:r>
          </a:p>
        </p:txBody>
      </p:sp>
      <p:sp>
        <p:nvSpPr>
          <p:cNvPr id="6" name="Subtitle 4"/>
          <p:cNvSpPr txBox="1">
            <a:spLocks/>
          </p:cNvSpPr>
          <p:nvPr/>
        </p:nvSpPr>
        <p:spPr>
          <a:xfrm>
            <a:off x="447996" y="2362200"/>
            <a:ext cx="8499158" cy="1981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rgbClr val="00439C"/>
                </a:solidFill>
              </a:rPr>
              <a:t>Enterprise Architecture Critical Partner</a:t>
            </a:r>
          </a:p>
          <a:p>
            <a:endParaRPr lang="en-US" sz="3600" dirty="0">
              <a:solidFill>
                <a:srgbClr val="0043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193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Role &amp; Tools of the EA Critical Partner</a:t>
            </a:r>
          </a:p>
          <a:p>
            <a:pPr marL="914400" lvl="1" indent="-514350"/>
            <a:r>
              <a:rPr lang="en-US" dirty="0"/>
              <a:t>Where Does the IT Strategy comes from?</a:t>
            </a:r>
          </a:p>
          <a:p>
            <a:pPr marL="1771650" lvl="3" indent="-514350">
              <a:buFont typeface="Wingdings" panose="05000000000000000000" pitchFamily="2" charset="2"/>
              <a:buChar char="ü"/>
            </a:pPr>
            <a:r>
              <a:rPr lang="en-US" dirty="0"/>
              <a:t>Core Design Principles &amp; Reference Architectures</a:t>
            </a:r>
          </a:p>
          <a:p>
            <a:pPr marL="914400" lvl="1" indent="-514350"/>
            <a:r>
              <a:rPr lang="en-US" dirty="0"/>
              <a:t>What is the Role of EA CPs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EA CP Manual’s Guidance – high level review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400" dirty="0"/>
              <a:t>EA CP Key probing questions, objective evaluation guidance - by phase with examples</a:t>
            </a:r>
            <a:r>
              <a:rPr lang="en-US" sz="1200" dirty="0"/>
              <a:t> </a:t>
            </a:r>
            <a:br>
              <a:rPr lang="en-US" sz="1200" dirty="0"/>
            </a:br>
            <a:endParaRPr lang="en-US" sz="12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Q&amp;A</a:t>
            </a:r>
          </a:p>
          <a:p>
            <a:pPr lvl="1"/>
            <a:endParaRPr lang="en-US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31346285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28800" y="66675"/>
            <a:ext cx="7391400" cy="685800"/>
          </a:xfrm>
        </p:spPr>
        <p:txBody>
          <a:bodyPr/>
          <a:lstStyle/>
          <a:p>
            <a:r>
              <a:rPr lang="en-US" sz="3200" dirty="0"/>
              <a:t>The Role of the EA CP is…</a:t>
            </a:r>
          </a:p>
        </p:txBody>
      </p:sp>
      <p:sp>
        <p:nvSpPr>
          <p:cNvPr id="8" name="Content Placeholder 1"/>
          <p:cNvSpPr>
            <a:spLocks noGrp="1"/>
          </p:cNvSpPr>
          <p:nvPr>
            <p:ph idx="4294967295"/>
          </p:nvPr>
        </p:nvSpPr>
        <p:spPr>
          <a:xfrm>
            <a:off x="796766" y="1143000"/>
            <a:ext cx="7966234" cy="15382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To ensure that the organization’s IT strategy and architecture vision is embodied into solution architecture’s designs and IT projects.</a:t>
            </a:r>
            <a:br>
              <a:rPr lang="en-US" dirty="0"/>
            </a:br>
            <a:r>
              <a:rPr lang="en-US" dirty="0"/>
              <a:t>  </a:t>
            </a:r>
          </a:p>
          <a:p>
            <a:pPr algn="ctr">
              <a:buFont typeface="Wingdings" panose="05000000000000000000" pitchFamily="2" charset="2"/>
              <a:buChar char="q"/>
            </a:pPr>
            <a:endParaRPr lang="en-US" i="1" dirty="0"/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432734" cy="419099"/>
          </a:xfrm>
          <a:prstGeom prst="rect">
            <a:avLst/>
          </a:prstGeom>
          <a:noFill/>
        </p:spPr>
      </p:pic>
      <p:sp>
        <p:nvSpPr>
          <p:cNvPr id="10" name="Content Placeholder 1"/>
          <p:cNvSpPr txBox="1">
            <a:spLocks/>
          </p:cNvSpPr>
          <p:nvPr/>
        </p:nvSpPr>
        <p:spPr>
          <a:xfrm>
            <a:off x="1200150" y="2057400"/>
            <a:ext cx="8020050" cy="3863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Ensure that architects and developers within project teams understand the organization’s IT strategy including core design principles, shared services, data sharing strategy, and other existing common IT assets;</a:t>
            </a:r>
            <a:br>
              <a:rPr lang="en-US" sz="1800" dirty="0"/>
            </a:br>
            <a:r>
              <a:rPr lang="en-US" sz="1800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Minimize redundancy and silos by promoting cross-organizational solutions;  </a:t>
            </a:r>
            <a:br>
              <a:rPr lang="en-US" sz="1800" dirty="0"/>
            </a:b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Ensure new solution architectures are well documented (</a:t>
            </a:r>
            <a:r>
              <a:rPr lang="en-US" sz="1800" dirty="0" err="1"/>
              <a:t>ConOps</a:t>
            </a:r>
            <a:r>
              <a:rPr lang="en-US" sz="1800" dirty="0"/>
              <a:t>, Data Flows, Information Exchanges, component architecture, </a:t>
            </a:r>
            <a:r>
              <a:rPr lang="en-US" sz="1800" dirty="0" err="1"/>
              <a:t>etc</a:t>
            </a:r>
            <a:r>
              <a:rPr lang="en-US" sz="1800" dirty="0"/>
              <a:t>); </a:t>
            </a:r>
            <a:br>
              <a:rPr lang="en-US" sz="1800" dirty="0"/>
            </a:b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Provide technical expertise and organizational knowledge to architects and developers to guide new product designs and/or solution architectures.</a:t>
            </a:r>
            <a:endParaRPr lang="en-US" sz="700" i="1" dirty="0"/>
          </a:p>
          <a:p>
            <a:pPr algn="ctr">
              <a:buFont typeface="Wingdings" panose="05000000000000000000" pitchFamily="2" charset="2"/>
              <a:buChar char="q"/>
            </a:pPr>
            <a:endParaRPr lang="en-US" sz="600" i="1" dirty="0"/>
          </a:p>
        </p:txBody>
      </p:sp>
    </p:spTree>
    <p:extLst>
      <p:ext uri="{BB962C8B-B14F-4D97-AF65-F5344CB8AC3E}">
        <p14:creationId xmlns:p14="http://schemas.microsoft.com/office/powerpoint/2010/main" val="7851689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1828800" y="66675"/>
            <a:ext cx="7239000" cy="685800"/>
          </a:xfrm>
        </p:spPr>
        <p:txBody>
          <a:bodyPr/>
          <a:lstStyle/>
          <a:p>
            <a:r>
              <a:rPr lang="en-US" sz="3200" dirty="0"/>
              <a:t>Where Does IT Strategy Comes From?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67677"/>
            <a:ext cx="64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Cloud First</a:t>
            </a:r>
          </a:p>
          <a:p>
            <a:endParaRPr lang="en-US" b="1" dirty="0"/>
          </a:p>
          <a:p>
            <a:r>
              <a:rPr lang="en-US" b="1" dirty="0"/>
              <a:t>Share First</a:t>
            </a:r>
          </a:p>
          <a:p>
            <a:endParaRPr lang="en-US" b="1" dirty="0"/>
          </a:p>
          <a:p>
            <a:r>
              <a:rPr lang="en-US" b="1" dirty="0"/>
              <a:t>Open Data</a:t>
            </a:r>
          </a:p>
          <a:p>
            <a:endParaRPr lang="en-US" b="1" dirty="0"/>
          </a:p>
          <a:p>
            <a:r>
              <a:rPr lang="en-US" b="1" dirty="0"/>
              <a:t>Modular Approach</a:t>
            </a:r>
          </a:p>
          <a:p>
            <a:endParaRPr lang="en-US" b="1" dirty="0"/>
          </a:p>
          <a:p>
            <a:r>
              <a:rPr lang="en-US" b="1" dirty="0"/>
              <a:t>Data APIs</a:t>
            </a:r>
          </a:p>
          <a:p>
            <a:endParaRPr lang="en-US" b="1" dirty="0"/>
          </a:p>
          <a:p>
            <a:r>
              <a:rPr lang="en-US" b="1" dirty="0"/>
              <a:t>Shared Services</a:t>
            </a:r>
          </a:p>
          <a:p>
            <a:endParaRPr lang="en-US" b="1" dirty="0"/>
          </a:p>
          <a:p>
            <a:r>
              <a:rPr lang="en-US" b="1" dirty="0"/>
              <a:t>Minimize Redundancies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885237946"/>
              </p:ext>
            </p:extLst>
          </p:nvPr>
        </p:nvGraphicFramePr>
        <p:xfrm>
          <a:off x="2819400" y="1526590"/>
          <a:ext cx="6096000" cy="4340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266" name="Picture 2" descr="https://encrypted-tbn3.gstatic.com/images?q=tbn:ANd9GcTlzrDkEGIqt_oJkUNBqCTLa33KgNPrC-FhDtEk3y0MGMDTQVPaMw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2030627" cy="138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03" y="1726073"/>
            <a:ext cx="792195" cy="792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026" y="900200"/>
            <a:ext cx="788771" cy="79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4183165" y="1447800"/>
            <a:ext cx="1227034" cy="1248484"/>
            <a:chOff x="1912665" y="556774"/>
            <a:chExt cx="1143000" cy="1143000"/>
          </a:xfrm>
        </p:grpSpPr>
        <p:sp>
          <p:nvSpPr>
            <p:cNvPr id="11" name="Oval 10"/>
            <p:cNvSpPr/>
            <p:nvPr/>
          </p:nvSpPr>
          <p:spPr>
            <a:xfrm>
              <a:off x="1912665" y="556774"/>
              <a:ext cx="1143000" cy="1143000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Oval 4"/>
            <p:cNvSpPr/>
            <p:nvPr/>
          </p:nvSpPr>
          <p:spPr>
            <a:xfrm>
              <a:off x="2009072" y="700786"/>
              <a:ext cx="975612" cy="8082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1750" tIns="31750" rIns="31750" bIns="31750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 dirty="0"/>
                <a:t>C/I/O IT Strategy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4497807" y="5443251"/>
            <a:ext cx="268406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 Strategy</a:t>
            </a:r>
          </a:p>
        </p:txBody>
      </p:sp>
    </p:spTree>
    <p:extLst>
      <p:ext uri="{BB962C8B-B14F-4D97-AF65-F5344CB8AC3E}">
        <p14:creationId xmlns:p14="http://schemas.microsoft.com/office/powerpoint/2010/main" val="143483358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12519" y="139399"/>
            <a:ext cx="8893969" cy="685800"/>
          </a:xfrm>
        </p:spPr>
        <p:txBody>
          <a:bodyPr/>
          <a:lstStyle/>
          <a:p>
            <a:r>
              <a:rPr lang="en-US" dirty="0"/>
              <a:t>IT Strategy As Design Principles and Reference Architectures</a:t>
            </a:r>
          </a:p>
        </p:txBody>
      </p:sp>
      <p:pic>
        <p:nvPicPr>
          <p:cNvPr id="5" name="Picture 4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219" y="2057400"/>
            <a:ext cx="4744667" cy="4695953"/>
          </a:xfrm>
          <a:prstGeom prst="rect">
            <a:avLst/>
          </a:prstGeom>
        </p:spPr>
      </p:pic>
      <p:pic>
        <p:nvPicPr>
          <p:cNvPr id="6" name="Picture 5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74654">
            <a:off x="427687" y="1998164"/>
            <a:ext cx="3928476" cy="24939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611" y="876300"/>
            <a:ext cx="8382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5941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245" y="1158630"/>
            <a:ext cx="3110155" cy="39883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762000" y="66675"/>
            <a:ext cx="8382000" cy="685800"/>
          </a:xfrm>
        </p:spPr>
        <p:txBody>
          <a:bodyPr/>
          <a:lstStyle/>
          <a:p>
            <a:r>
              <a:rPr lang="en-US" sz="3600" dirty="0"/>
              <a:t>Reference Architectures (RA) - </a:t>
            </a:r>
            <a:r>
              <a:rPr lang="en-US" sz="2400" dirty="0"/>
              <a:t>Examples</a:t>
            </a:r>
            <a:endParaRPr lang="en-US" sz="3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968" y="908789"/>
            <a:ext cx="2723364" cy="38857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98" y="1280963"/>
            <a:ext cx="2900159" cy="37437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934" y="2438400"/>
            <a:ext cx="3304140" cy="38437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8630" y="1280963"/>
            <a:ext cx="576343" cy="42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5733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710" y="2132033"/>
            <a:ext cx="5502524" cy="42783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sp>
        <p:nvSpPr>
          <p:cNvPr id="8" name="Line Callout 2 7"/>
          <p:cNvSpPr/>
          <p:nvPr/>
        </p:nvSpPr>
        <p:spPr>
          <a:xfrm>
            <a:off x="457200" y="1818044"/>
            <a:ext cx="1475652" cy="925156"/>
          </a:xfrm>
          <a:prstGeom prst="borderCallout2">
            <a:avLst>
              <a:gd name="adj1" fmla="val 49938"/>
              <a:gd name="adj2" fmla="val 98520"/>
              <a:gd name="adj3" fmla="val 71186"/>
              <a:gd name="adj4" fmla="val 123467"/>
              <a:gd name="adj5" fmla="val 222032"/>
              <a:gd name="adj6" fmla="val 18326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EA Review to minimize duplication &amp; identify potential shared services</a:t>
            </a:r>
          </a:p>
        </p:txBody>
      </p:sp>
      <p:sp>
        <p:nvSpPr>
          <p:cNvPr id="9" name="Line Callout 2 8"/>
          <p:cNvSpPr/>
          <p:nvPr/>
        </p:nvSpPr>
        <p:spPr>
          <a:xfrm>
            <a:off x="2029624" y="1250812"/>
            <a:ext cx="1572288" cy="881221"/>
          </a:xfrm>
          <a:prstGeom prst="borderCallout2">
            <a:avLst>
              <a:gd name="adj1" fmla="val 98987"/>
              <a:gd name="adj2" fmla="val 50593"/>
              <a:gd name="adj3" fmla="val 119885"/>
              <a:gd name="adj4" fmla="val 75108"/>
              <a:gd name="adj5" fmla="val 237065"/>
              <a:gd name="adj6" fmla="val 10009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Communicate </a:t>
            </a:r>
            <a:br>
              <a:rPr lang="en-US" sz="1100" dirty="0"/>
            </a:br>
            <a:r>
              <a:rPr lang="en-US" sz="1100" dirty="0"/>
              <a:t>IT Strategy, References Architectures &amp; Design Principles</a:t>
            </a:r>
          </a:p>
        </p:txBody>
      </p:sp>
      <p:sp>
        <p:nvSpPr>
          <p:cNvPr id="10" name="Line Callout 2 9"/>
          <p:cNvSpPr/>
          <p:nvPr/>
        </p:nvSpPr>
        <p:spPr>
          <a:xfrm>
            <a:off x="6609774" y="1265150"/>
            <a:ext cx="1502121" cy="826935"/>
          </a:xfrm>
          <a:prstGeom prst="borderCallout2">
            <a:avLst>
              <a:gd name="adj1" fmla="val 101456"/>
              <a:gd name="adj2" fmla="val 48476"/>
              <a:gd name="adj3" fmla="val 126551"/>
              <a:gd name="adj4" fmla="val -17053"/>
              <a:gd name="adj5" fmla="val 219607"/>
              <a:gd name="adj6" fmla="val -9055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Review completion of all required </a:t>
            </a:r>
            <a:r>
              <a:rPr lang="en-US" sz="1050" dirty="0"/>
              <a:t>documentation </a:t>
            </a:r>
            <a:br>
              <a:rPr lang="en-US" sz="1050" dirty="0"/>
            </a:br>
            <a:r>
              <a:rPr lang="en-US" sz="1000" dirty="0"/>
              <a:t>(Data Flows, architecture, </a:t>
            </a:r>
            <a:r>
              <a:rPr lang="en-US" sz="1000" dirty="0" err="1"/>
              <a:t>etc</a:t>
            </a:r>
            <a:r>
              <a:rPr lang="en-US" sz="1000" dirty="0"/>
              <a:t>)</a:t>
            </a:r>
          </a:p>
        </p:txBody>
      </p:sp>
      <p:sp>
        <p:nvSpPr>
          <p:cNvPr id="12" name="Line Callout 2 11"/>
          <p:cNvSpPr/>
          <p:nvPr/>
        </p:nvSpPr>
        <p:spPr>
          <a:xfrm>
            <a:off x="3743173" y="1218661"/>
            <a:ext cx="1358822" cy="826935"/>
          </a:xfrm>
          <a:prstGeom prst="borderCallout2">
            <a:avLst>
              <a:gd name="adj1" fmla="val 101456"/>
              <a:gd name="adj2" fmla="val 51160"/>
              <a:gd name="adj3" fmla="val 135270"/>
              <a:gd name="adj4" fmla="val 39983"/>
              <a:gd name="adj5" fmla="val 217367"/>
              <a:gd name="adj6" fmla="val 30935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Contributes to identify Architecture Requirements</a:t>
            </a:r>
          </a:p>
        </p:txBody>
      </p:sp>
      <p:sp>
        <p:nvSpPr>
          <p:cNvPr id="15" name="Line Callout 2 14"/>
          <p:cNvSpPr/>
          <p:nvPr/>
        </p:nvSpPr>
        <p:spPr>
          <a:xfrm>
            <a:off x="5243256" y="1196527"/>
            <a:ext cx="1180768" cy="826935"/>
          </a:xfrm>
          <a:prstGeom prst="borderCallout2">
            <a:avLst>
              <a:gd name="adj1" fmla="val 102396"/>
              <a:gd name="adj2" fmla="val 49889"/>
              <a:gd name="adj3" fmla="val 126092"/>
              <a:gd name="adj4" fmla="val 13928"/>
              <a:gd name="adj5" fmla="val 225005"/>
              <a:gd name="adj6" fmla="val -2569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Review Proposed Solution Designs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551" y="4422327"/>
            <a:ext cx="1013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EA Critical</a:t>
            </a:r>
            <a:br>
              <a:rPr lang="en-US" sz="1400" dirty="0"/>
            </a:br>
            <a:r>
              <a:rPr lang="en-US" sz="1400" dirty="0"/>
              <a:t> Partner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012" y="154508"/>
            <a:ext cx="864979" cy="49237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-64230" y="606318"/>
            <a:ext cx="8973628" cy="360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50" dirty="0">
                <a:solidFill>
                  <a:srgbClr val="000000"/>
                </a:solidFill>
              </a:rPr>
              <a:t>It focuses on promoting the existing IT strategies to improve business outcomes.</a:t>
            </a:r>
          </a:p>
        </p:txBody>
      </p:sp>
      <p:sp>
        <p:nvSpPr>
          <p:cNvPr id="21" name="Title 2"/>
          <p:cNvSpPr txBox="1">
            <a:spLocks/>
          </p:cNvSpPr>
          <p:nvPr/>
        </p:nvSpPr>
        <p:spPr>
          <a:xfrm>
            <a:off x="786374" y="184490"/>
            <a:ext cx="7086600" cy="441202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0000" lnSpcReduction="2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/>
              <a:t>Performing the EA CP Role</a:t>
            </a:r>
          </a:p>
        </p:txBody>
      </p:sp>
      <p:sp>
        <p:nvSpPr>
          <p:cNvPr id="13" name="Line Callout 2 12"/>
          <p:cNvSpPr/>
          <p:nvPr/>
        </p:nvSpPr>
        <p:spPr>
          <a:xfrm>
            <a:off x="7723276" y="2281567"/>
            <a:ext cx="1180768" cy="826935"/>
          </a:xfrm>
          <a:prstGeom prst="borderCallout2">
            <a:avLst>
              <a:gd name="adj1" fmla="val 44594"/>
              <a:gd name="adj2" fmla="val -1152"/>
              <a:gd name="adj3" fmla="val 64521"/>
              <a:gd name="adj4" fmla="val -63513"/>
              <a:gd name="adj5" fmla="val 90553"/>
              <a:gd name="adj6" fmla="val -10841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Updates the System Catalog</a:t>
            </a:r>
            <a:br>
              <a:rPr lang="en-US" sz="1100" dirty="0"/>
            </a:br>
            <a:r>
              <a:rPr lang="en-US" sz="1100" dirty="0"/>
              <a:t>(ESC) + EA Repository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22" y="3583120"/>
            <a:ext cx="1245489" cy="82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4471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The EA CP Community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862" y="914401"/>
            <a:ext cx="756586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1848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563" y="1912898"/>
            <a:ext cx="4686837" cy="44858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73" y="990600"/>
            <a:ext cx="4953890" cy="50677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 SharePoint Materials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228600"/>
            <a:ext cx="914402" cy="9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7121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Performing Project Reviews During the EPLC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Enterprise Architecture Critical Partners – A Primer</a:t>
            </a:r>
          </a:p>
        </p:txBody>
      </p:sp>
    </p:spTree>
    <p:extLst>
      <p:ext uri="{BB962C8B-B14F-4D97-AF65-F5344CB8AC3E}">
        <p14:creationId xmlns:p14="http://schemas.microsoft.com/office/powerpoint/2010/main" val="1202350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54776">
            <a:off x="1192372" y="1384694"/>
            <a:ext cx="3474102" cy="43438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hlinkClick r:id="rId2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0506">
            <a:off x="2496738" y="1169021"/>
            <a:ext cx="3675486" cy="47752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itle 2"/>
          <p:cNvSpPr txBox="1">
            <a:spLocks/>
          </p:cNvSpPr>
          <p:nvPr/>
        </p:nvSpPr>
        <p:spPr>
          <a:xfrm>
            <a:off x="685800" y="98726"/>
            <a:ext cx="8001000" cy="619126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tx1"/>
                </a:solidFill>
              </a:rPr>
              <a:t>EA Critical Partner Manual - v4</a:t>
            </a:r>
            <a:r>
              <a:rPr lang="en-US" sz="4000" dirty="0"/>
              <a:t>ed n</a:t>
            </a:r>
            <a:br>
              <a:rPr lang="en-US" sz="4000" dirty="0"/>
            </a:br>
            <a:endParaRPr lang="en-US" sz="2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7526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5986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Ancillary Material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Enterprise Architecture Critical Partners – A Primer</a:t>
            </a:r>
          </a:p>
        </p:txBody>
      </p:sp>
    </p:spTree>
    <p:extLst>
      <p:ext uri="{BB962C8B-B14F-4D97-AF65-F5344CB8AC3E}">
        <p14:creationId xmlns:p14="http://schemas.microsoft.com/office/powerpoint/2010/main" val="1381490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31164" y="1577879"/>
            <a:ext cx="36519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  <a:ea typeface="Times New Roman" panose="02020603050405020304" pitchFamily="18" charset="0"/>
              </a:rPr>
              <a:t>…requires a standardized, core business management system to manage several key processes including Travel</a:t>
            </a:r>
            <a:endParaRPr lang="en-US" sz="1200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7875" y="1224798"/>
            <a:ext cx="41010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+mj-lt"/>
              </a:rPr>
              <a:t>Example of vague &amp; unclear statements… </a:t>
            </a:r>
          </a:p>
        </p:txBody>
      </p:sp>
      <p:sp>
        <p:nvSpPr>
          <p:cNvPr id="7" name="Rectangle 6"/>
          <p:cNvSpPr/>
          <p:nvPr/>
        </p:nvSpPr>
        <p:spPr>
          <a:xfrm>
            <a:off x="6515769" y="2054657"/>
            <a:ext cx="2591423" cy="105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>
              <a:spcBef>
                <a:spcPts val="225"/>
              </a:spcBef>
              <a:spcAft>
                <a:spcPts val="225"/>
              </a:spcAft>
            </a:pPr>
            <a:r>
              <a:rPr lang="en-US" sz="1400" dirty="0">
                <a:latin typeface="+mj-lt"/>
                <a:ea typeface="Times New Roman" panose="02020603050405020304" pitchFamily="18" charset="0"/>
              </a:rPr>
              <a:t>Lack of </a:t>
            </a:r>
            <a:r>
              <a:rPr lang="en-US" sz="1400" u="sng" dirty="0">
                <a:latin typeface="+mj-lt"/>
                <a:ea typeface="Times New Roman" panose="02020603050405020304" pitchFamily="18" charset="0"/>
              </a:rPr>
              <a:t>scope</a:t>
            </a:r>
            <a:r>
              <a:rPr lang="en-US" sz="1400" dirty="0">
                <a:latin typeface="+mj-lt"/>
                <a:ea typeface="Times New Roman" panose="02020603050405020304" pitchFamily="18" charset="0"/>
              </a:rPr>
              <a:t> clarity   </a:t>
            </a:r>
          </a:p>
          <a:p>
            <a:pPr marL="274320">
              <a:spcBef>
                <a:spcPts val="225"/>
              </a:spcBef>
              <a:spcAft>
                <a:spcPts val="225"/>
              </a:spcAft>
            </a:pPr>
            <a:endParaRPr lang="en-US" sz="1400" dirty="0">
              <a:latin typeface="+mj-lt"/>
              <a:ea typeface="Times New Roman" panose="02020603050405020304" pitchFamily="18" charset="0"/>
            </a:endParaRPr>
          </a:p>
          <a:p>
            <a:pPr marL="274320">
              <a:spcBef>
                <a:spcPts val="225"/>
              </a:spcBef>
              <a:spcAft>
                <a:spcPts val="225"/>
              </a:spcAft>
            </a:pPr>
            <a:r>
              <a:rPr lang="en-US" sz="1400" dirty="0">
                <a:latin typeface="+mj-lt"/>
                <a:ea typeface="Times New Roman" panose="02020603050405020304" pitchFamily="18" charset="0"/>
              </a:rPr>
              <a:t>Vague regarding underling business need   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55526" y="2286000"/>
            <a:ext cx="728332" cy="594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2348" y="2381651"/>
            <a:ext cx="32020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+mj-lt"/>
                <a:ea typeface="Times New Roman" panose="02020603050405020304" pitchFamily="18" charset="0"/>
              </a:rPr>
              <a:t>…establish one or more systems and processes </a:t>
            </a:r>
            <a:endParaRPr lang="en-US" sz="1200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7324" y="2890313"/>
            <a:ext cx="42588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algn="just">
              <a:spcBef>
                <a:spcPts val="225"/>
              </a:spcBef>
              <a:spcAft>
                <a:spcPts val="225"/>
              </a:spcAft>
            </a:pPr>
            <a:r>
              <a:rPr lang="en-US" sz="1200" dirty="0">
                <a:latin typeface="+mj-lt"/>
                <a:ea typeface="Times New Roman" panose="02020603050405020304" pitchFamily="18" charset="0"/>
              </a:rPr>
              <a:t>….currently have unique processes for managing day-to-day business activities and, therefore, have a wide variety of support systems. This results in some redundancies and inefficiencies, as well as performance, reliability and compliance issues.    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7324" y="4266383"/>
            <a:ext cx="43822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algn="just">
              <a:spcBef>
                <a:spcPts val="225"/>
              </a:spcBef>
              <a:spcAft>
                <a:spcPts val="450"/>
              </a:spcAft>
            </a:pPr>
            <a:r>
              <a:rPr lang="en-US" sz="1200" dirty="0">
                <a:latin typeface="+mj-lt"/>
                <a:ea typeface="Times New Roman" panose="02020603050405020304" pitchFamily="18" charset="0"/>
              </a:rPr>
              <a:t>Several alternatives were discussed including .NET, SharePoint, HTML5/JS, LAMP and Cloud.  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55526" y="4187179"/>
            <a:ext cx="728332" cy="594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27898" y="4042529"/>
            <a:ext cx="204077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Times New Roman" panose="02020603050405020304" pitchFamily="18" charset="0"/>
              </a:rPr>
              <a:t>The Business Need Document should abstain from technical solutions. </a:t>
            </a:r>
            <a:endParaRPr lang="en-US" sz="1400" dirty="0">
              <a:latin typeface="+mj-lt"/>
            </a:endParaRPr>
          </a:p>
        </p:txBody>
      </p:sp>
      <p:sp>
        <p:nvSpPr>
          <p:cNvPr id="14" name="Right Brace 13"/>
          <p:cNvSpPr/>
          <p:nvPr/>
        </p:nvSpPr>
        <p:spPr>
          <a:xfrm>
            <a:off x="5071110" y="1778046"/>
            <a:ext cx="720090" cy="1955754"/>
          </a:xfrm>
          <a:prstGeom prst="rightBrace">
            <a:avLst>
              <a:gd name="adj1" fmla="val 8333"/>
              <a:gd name="adj2" fmla="val 385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 dirty="0"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17875" y="5126285"/>
            <a:ext cx="25654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algn="just">
              <a:spcBef>
                <a:spcPts val="225"/>
              </a:spcBef>
              <a:spcAft>
                <a:spcPts val="450"/>
              </a:spcAft>
            </a:pPr>
            <a:r>
              <a:rPr lang="en-US" sz="1200" dirty="0">
                <a:latin typeface="+mj-lt"/>
                <a:ea typeface="Times New Roman" panose="02020603050405020304" pitchFamily="18" charset="0"/>
              </a:rPr>
              <a:t>Touch point with relevant systems; 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55526" y="5000995"/>
            <a:ext cx="728332" cy="594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latin typeface="+mj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35518" y="5054230"/>
            <a:ext cx="192748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Times New Roman" panose="02020603050405020304" pitchFamily="18" charset="0"/>
              </a:rPr>
              <a:t>What do we mean by “touch points”? </a:t>
            </a:r>
            <a:r>
              <a:rPr lang="en-US" sz="1400" dirty="0">
                <a:ea typeface="Times New Roman" panose="02020603050405020304" pitchFamily="18" charset="0"/>
              </a:rPr>
              <a:t>Which systems? </a:t>
            </a:r>
            <a:endParaRPr lang="en-US" sz="1400" dirty="0"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BF677B-8743-41B9-936A-ECA88608509A}"/>
              </a:ext>
            </a:extLst>
          </p:cNvPr>
          <p:cNvSpPr txBox="1"/>
          <p:nvPr/>
        </p:nvSpPr>
        <p:spPr>
          <a:xfrm>
            <a:off x="0" y="1327928"/>
            <a:ext cx="416717" cy="385799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="wordArtVert" wrap="square" rtlCol="0">
            <a:spAutoFit/>
          </a:bodyPr>
          <a:lstStyle/>
          <a:p>
            <a:r>
              <a:rPr lang="en-US" sz="1400" spc="-150" dirty="0">
                <a:solidFill>
                  <a:schemeClr val="bg1"/>
                </a:solidFill>
                <a:latin typeface="Britannic Bold" panose="020B0903060703020204" pitchFamily="34" charset="0"/>
                <a:cs typeface="Aharoni" panose="02010803020104030203" pitchFamily="2" charset="-79"/>
              </a:rPr>
              <a:t>INITIATION PHASE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C9EFD342-B183-4848-A39B-E8757B613F2D}"/>
              </a:ext>
            </a:extLst>
          </p:cNvPr>
          <p:cNvSpPr txBox="1">
            <a:spLocks/>
          </p:cNvSpPr>
          <p:nvPr/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The Business Need Statement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3707012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1828800" y="66675"/>
            <a:ext cx="7086600" cy="685800"/>
          </a:xfrm>
        </p:spPr>
        <p:txBody>
          <a:bodyPr/>
          <a:lstStyle/>
          <a:p>
            <a:r>
              <a:rPr lang="en-US" dirty="0"/>
              <a:t>Concept of Operations – </a:t>
            </a:r>
            <a:r>
              <a:rPr lang="en-US" sz="3200" b="1" dirty="0"/>
              <a:t>Example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CEEDF8-FC23-4C7E-B194-6C5BF9923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143000"/>
            <a:ext cx="6156511" cy="3731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EAF7A0-1A8E-40B0-A5E0-46056EEBF7AB}"/>
              </a:ext>
            </a:extLst>
          </p:cNvPr>
          <p:cNvSpPr/>
          <p:nvPr/>
        </p:nvSpPr>
        <p:spPr>
          <a:xfrm>
            <a:off x="1828800" y="942945"/>
            <a:ext cx="44382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000" b="1" dirty="0">
                <a:solidFill>
                  <a:srgbClr val="323232"/>
                </a:solidFill>
                <a:latin typeface="ibm-plex-sans"/>
              </a:rPr>
              <a:t>Home shopping system context diagram</a:t>
            </a:r>
            <a:endParaRPr lang="en-US" sz="2000" b="1" i="0" dirty="0">
              <a:solidFill>
                <a:srgbClr val="323232"/>
              </a:solidFill>
              <a:effectLst/>
              <a:latin typeface="ibm-plex-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920479-6D55-4CFE-8270-B4B6169AAEF0}"/>
              </a:ext>
            </a:extLst>
          </p:cNvPr>
          <p:cNvSpPr txBox="1"/>
          <p:nvPr/>
        </p:nvSpPr>
        <p:spPr>
          <a:xfrm>
            <a:off x="0" y="1327929"/>
            <a:ext cx="383567" cy="309167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="wordArtVert" wrap="square" rtlCol="0">
            <a:spAutoFit/>
          </a:bodyPr>
          <a:lstStyle/>
          <a:p>
            <a:r>
              <a:rPr lang="en-US" sz="1200" spc="-150" dirty="0">
                <a:solidFill>
                  <a:schemeClr val="bg1"/>
                </a:solidFill>
                <a:latin typeface="Britannic Bold" panose="020B0903060703020204" pitchFamily="34" charset="0"/>
                <a:cs typeface="Aharoni" panose="02010803020104030203" pitchFamily="2" charset="-79"/>
              </a:rPr>
              <a:t>INITIATION PHASE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1D588B-4080-494A-91EC-41827631194B}"/>
              </a:ext>
            </a:extLst>
          </p:cNvPr>
          <p:cNvSpPr txBox="1"/>
          <p:nvPr/>
        </p:nvSpPr>
        <p:spPr>
          <a:xfrm>
            <a:off x="741926" y="4967611"/>
            <a:ext cx="82316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indent="-128588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350" dirty="0"/>
              <a:t>An EPLC deliverable/diagram focused on business operations, end-users, and information needs.</a:t>
            </a:r>
          </a:p>
          <a:p>
            <a:pPr marL="128588" indent="-128588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350" dirty="0"/>
              <a:t>Graphical way for achieving consensus on proposed operational changes.</a:t>
            </a:r>
          </a:p>
          <a:p>
            <a:pPr marL="128588" indent="-128588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350" dirty="0"/>
              <a:t>A collaborative approach to uncovering the underlying real needs &amp; jointly thinking through the concepts needed to realize the operations of the desired future state. </a:t>
            </a:r>
          </a:p>
          <a:p>
            <a:pPr marL="128588" indent="-128588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350" dirty="0"/>
              <a:t>An excellent way to consider partitioning scope into individual rollouts, releases, and/or sprints</a:t>
            </a:r>
          </a:p>
        </p:txBody>
      </p:sp>
    </p:spTree>
    <p:extLst>
      <p:ext uri="{BB962C8B-B14F-4D97-AF65-F5344CB8AC3E}">
        <p14:creationId xmlns:p14="http://schemas.microsoft.com/office/powerpoint/2010/main" val="3012041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1828800" y="66675"/>
            <a:ext cx="7086600" cy="685800"/>
          </a:xfrm>
        </p:spPr>
        <p:txBody>
          <a:bodyPr/>
          <a:lstStyle/>
          <a:p>
            <a:r>
              <a:rPr lang="en-US" dirty="0"/>
              <a:t>Concept of Operations – </a:t>
            </a:r>
            <a:r>
              <a:rPr lang="en-US" sz="3200" b="1" dirty="0"/>
              <a:t>Example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CEEDF8-FC23-4C7E-B194-6C5BF9923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295400"/>
            <a:ext cx="5021542" cy="3043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EAF7A0-1A8E-40B0-A5E0-46056EEBF7AB}"/>
              </a:ext>
            </a:extLst>
          </p:cNvPr>
          <p:cNvSpPr/>
          <p:nvPr/>
        </p:nvSpPr>
        <p:spPr>
          <a:xfrm>
            <a:off x="1828800" y="942945"/>
            <a:ext cx="44382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000" b="1" dirty="0">
                <a:solidFill>
                  <a:srgbClr val="323232"/>
                </a:solidFill>
                <a:latin typeface="ibm-plex-sans"/>
              </a:rPr>
              <a:t>Home shopping system context diagram</a:t>
            </a:r>
            <a:endParaRPr lang="en-US" sz="2000" b="1" i="0" dirty="0">
              <a:solidFill>
                <a:srgbClr val="323232"/>
              </a:solidFill>
              <a:effectLst/>
              <a:latin typeface="ibm-plex-sans"/>
            </a:endParaRPr>
          </a:p>
        </p:txBody>
      </p:sp>
      <p:sp>
        <p:nvSpPr>
          <p:cNvPr id="10" name="Callout: Line with Accent Bar 9">
            <a:extLst>
              <a:ext uri="{FF2B5EF4-FFF2-40B4-BE49-F238E27FC236}">
                <a16:creationId xmlns:a16="http://schemas.microsoft.com/office/drawing/2014/main" id="{05942E16-685B-412C-8EA4-8D6214953A15}"/>
              </a:ext>
            </a:extLst>
          </p:cNvPr>
          <p:cNvSpPr/>
          <p:nvPr/>
        </p:nvSpPr>
        <p:spPr>
          <a:xfrm>
            <a:off x="6952866" y="3429000"/>
            <a:ext cx="1810134" cy="762000"/>
          </a:xfrm>
          <a:prstGeom prst="accentCallout1">
            <a:avLst>
              <a:gd name="adj1" fmla="val 18750"/>
              <a:gd name="adj2" fmla="val -8333"/>
              <a:gd name="adj3" fmla="val 34500"/>
              <a:gd name="adj4" fmla="val -28440"/>
            </a:avLst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</a:rPr>
              <a:t>Identify system integration’s needs (existing interfaces, APIs, </a:t>
            </a:r>
            <a:r>
              <a:rPr lang="en-US" sz="1400" dirty="0" err="1">
                <a:solidFill>
                  <a:srgbClr val="FF0000"/>
                </a:solidFill>
              </a:rPr>
              <a:t>etc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1" name="Callout: Line with Accent Bar 10">
            <a:extLst>
              <a:ext uri="{FF2B5EF4-FFF2-40B4-BE49-F238E27FC236}">
                <a16:creationId xmlns:a16="http://schemas.microsoft.com/office/drawing/2014/main" id="{0FCFF4D8-07F6-4548-8629-FFEB4A48298C}"/>
              </a:ext>
            </a:extLst>
          </p:cNvPr>
          <p:cNvSpPr/>
          <p:nvPr/>
        </p:nvSpPr>
        <p:spPr>
          <a:xfrm>
            <a:off x="2852389" y="4119995"/>
            <a:ext cx="2542571" cy="762000"/>
          </a:xfrm>
          <a:prstGeom prst="accentCallout1">
            <a:avLst>
              <a:gd name="adj1" fmla="val 33750"/>
              <a:gd name="adj2" fmla="val 76696"/>
              <a:gd name="adj3" fmla="val -58500"/>
              <a:gd name="adj4" fmla="val 95712"/>
            </a:avLst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</a:rPr>
              <a:t>Begin to identify data implications (i.e, domain vocabulary, data entities)</a:t>
            </a:r>
          </a:p>
        </p:txBody>
      </p:sp>
      <p:sp>
        <p:nvSpPr>
          <p:cNvPr id="15" name="Callout: Line with Accent Bar 14">
            <a:extLst>
              <a:ext uri="{FF2B5EF4-FFF2-40B4-BE49-F238E27FC236}">
                <a16:creationId xmlns:a16="http://schemas.microsoft.com/office/drawing/2014/main" id="{AD3C3946-7A38-429B-9D3B-9A27FEDF11CD}"/>
              </a:ext>
            </a:extLst>
          </p:cNvPr>
          <p:cNvSpPr/>
          <p:nvPr/>
        </p:nvSpPr>
        <p:spPr>
          <a:xfrm>
            <a:off x="130091" y="3533254"/>
            <a:ext cx="1219076" cy="990601"/>
          </a:xfrm>
          <a:prstGeom prst="accentCallout1">
            <a:avLst>
              <a:gd name="adj1" fmla="val 33750"/>
              <a:gd name="adj2" fmla="val 76696"/>
              <a:gd name="adj3" fmla="val -10039"/>
              <a:gd name="adj4" fmla="val 106963"/>
            </a:avLst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</a:rPr>
              <a:t>identify </a:t>
            </a: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possible</a:t>
            </a: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Shared</a:t>
            </a: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Services</a:t>
            </a:r>
          </a:p>
        </p:txBody>
      </p:sp>
      <p:sp>
        <p:nvSpPr>
          <p:cNvPr id="16" name="Callout: Line with Accent Bar 15">
            <a:extLst>
              <a:ext uri="{FF2B5EF4-FFF2-40B4-BE49-F238E27FC236}">
                <a16:creationId xmlns:a16="http://schemas.microsoft.com/office/drawing/2014/main" id="{193067BF-7D19-49D9-891C-1B753DDCC63F}"/>
              </a:ext>
            </a:extLst>
          </p:cNvPr>
          <p:cNvSpPr/>
          <p:nvPr/>
        </p:nvSpPr>
        <p:spPr>
          <a:xfrm>
            <a:off x="457200" y="4870565"/>
            <a:ext cx="1501505" cy="990601"/>
          </a:xfrm>
          <a:prstGeom prst="accentCallout1">
            <a:avLst>
              <a:gd name="adj1" fmla="val 33750"/>
              <a:gd name="adj2" fmla="val 76696"/>
              <a:gd name="adj3" fmla="val -37731"/>
              <a:gd name="adj4" fmla="val 118214"/>
            </a:avLst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</a:rPr>
              <a:t>identify </a:t>
            </a: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associated</a:t>
            </a: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Reference</a:t>
            </a:r>
            <a:br>
              <a:rPr lang="en-US" sz="1400" dirty="0">
                <a:solidFill>
                  <a:srgbClr val="FF0000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Architectures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CAE43E-50E5-4744-A784-20461CE7970F}"/>
              </a:ext>
            </a:extLst>
          </p:cNvPr>
          <p:cNvSpPr/>
          <p:nvPr/>
        </p:nvSpPr>
        <p:spPr>
          <a:xfrm>
            <a:off x="2133600" y="5153600"/>
            <a:ext cx="5715000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i="1" dirty="0"/>
              <a:t>The EA CP must perform an “Architecture Review” leveraging the </a:t>
            </a:r>
            <a:r>
              <a:rPr lang="en-US" b="1" i="1" dirty="0" err="1"/>
              <a:t>ConOps</a:t>
            </a:r>
            <a:r>
              <a:rPr lang="en-US" b="1" i="1" dirty="0"/>
              <a:t> to begin identifying inherited architecture requirements (i.e, existing common services, APIs, existing Data and IT strategy implications).</a:t>
            </a:r>
            <a:endParaRPr lang="en-US" dirty="0"/>
          </a:p>
        </p:txBody>
      </p:sp>
      <p:sp>
        <p:nvSpPr>
          <p:cNvPr id="17" name="Callout: Line with Accent Bar 16">
            <a:extLst>
              <a:ext uri="{FF2B5EF4-FFF2-40B4-BE49-F238E27FC236}">
                <a16:creationId xmlns:a16="http://schemas.microsoft.com/office/drawing/2014/main" id="{F4FA3BD3-986D-4900-8AA0-880DBE83B0D0}"/>
              </a:ext>
            </a:extLst>
          </p:cNvPr>
          <p:cNvSpPr/>
          <p:nvPr/>
        </p:nvSpPr>
        <p:spPr>
          <a:xfrm>
            <a:off x="6829233" y="2028670"/>
            <a:ext cx="2191134" cy="762000"/>
          </a:xfrm>
          <a:prstGeom prst="accentCallout1">
            <a:avLst>
              <a:gd name="adj1" fmla="val 18750"/>
              <a:gd name="adj2" fmla="val -8333"/>
              <a:gd name="adj3" fmla="val 72000"/>
              <a:gd name="adj4" fmla="val -46697"/>
            </a:avLst>
          </a:prstGeom>
          <a:solidFill>
            <a:schemeClr val="bg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</a:rPr>
              <a:t>Identify existing reusable   services to minimize redundancies.</a:t>
            </a:r>
          </a:p>
        </p:txBody>
      </p:sp>
    </p:spTree>
    <p:extLst>
      <p:ext uri="{BB962C8B-B14F-4D97-AF65-F5344CB8AC3E}">
        <p14:creationId xmlns:p14="http://schemas.microsoft.com/office/powerpoint/2010/main" val="2836805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736" y="2099340"/>
            <a:ext cx="4907455" cy="33426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1828800" y="66675"/>
            <a:ext cx="7086600" cy="685800"/>
          </a:xfrm>
        </p:spPr>
        <p:txBody>
          <a:bodyPr/>
          <a:lstStyle/>
          <a:p>
            <a:r>
              <a:rPr lang="en-US" dirty="0"/>
              <a:t>Concept of Operations – </a:t>
            </a:r>
            <a:r>
              <a:rPr lang="en-US" sz="3200" b="1" dirty="0"/>
              <a:t>Example</a:t>
            </a: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562" y="869145"/>
            <a:ext cx="8701238" cy="55510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56D8DB-9D5B-4345-A441-9F09CFD2C386}"/>
              </a:ext>
            </a:extLst>
          </p:cNvPr>
          <p:cNvSpPr txBox="1"/>
          <p:nvPr/>
        </p:nvSpPr>
        <p:spPr>
          <a:xfrm>
            <a:off x="0" y="2470928"/>
            <a:ext cx="383567" cy="255827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="wordArtVert" wrap="square" rtlCol="0">
            <a:spAutoFit/>
          </a:bodyPr>
          <a:lstStyle/>
          <a:p>
            <a:r>
              <a:rPr lang="en-US" sz="1200" spc="-150" dirty="0">
                <a:solidFill>
                  <a:schemeClr val="bg1"/>
                </a:solidFill>
                <a:latin typeface="Britannic Bold" panose="020B0903060703020204" pitchFamily="34" charset="0"/>
                <a:cs typeface="Aharoni" panose="02010803020104030203" pitchFamily="2" charset="-79"/>
              </a:rPr>
              <a:t>CONCEPT PHASE</a:t>
            </a:r>
          </a:p>
        </p:txBody>
      </p:sp>
    </p:spTree>
    <p:extLst>
      <p:ext uri="{BB962C8B-B14F-4D97-AF65-F5344CB8AC3E}">
        <p14:creationId xmlns:p14="http://schemas.microsoft.com/office/powerpoint/2010/main" val="759410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1828800" y="66675"/>
            <a:ext cx="7086600" cy="685800"/>
          </a:xfrm>
        </p:spPr>
        <p:txBody>
          <a:bodyPr/>
          <a:lstStyle/>
          <a:p>
            <a:r>
              <a:rPr lang="en-US" dirty="0"/>
              <a:t>The Concept Phase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CEEDF8-FC23-4C7E-B194-6C5BF9923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05067"/>
            <a:ext cx="3099750" cy="187882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EAF7A0-1A8E-40B0-A5E0-46056EEBF7AB}"/>
              </a:ext>
            </a:extLst>
          </p:cNvPr>
          <p:cNvSpPr/>
          <p:nvPr/>
        </p:nvSpPr>
        <p:spPr>
          <a:xfrm>
            <a:off x="533400" y="838200"/>
            <a:ext cx="35010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000" b="1" dirty="0">
                <a:solidFill>
                  <a:srgbClr val="323232"/>
                </a:solidFill>
                <a:latin typeface="ibm-plex-sans"/>
              </a:rPr>
              <a:t>Concept of Operations diagram</a:t>
            </a:r>
            <a:endParaRPr lang="en-US" sz="2000" b="1" i="0" dirty="0">
              <a:solidFill>
                <a:srgbClr val="323232"/>
              </a:solidFill>
              <a:effectLst/>
              <a:latin typeface="ibm-plex-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920479-6D55-4CFE-8270-B4B6169AAEF0}"/>
              </a:ext>
            </a:extLst>
          </p:cNvPr>
          <p:cNvSpPr txBox="1"/>
          <p:nvPr/>
        </p:nvSpPr>
        <p:spPr>
          <a:xfrm>
            <a:off x="0" y="2470928"/>
            <a:ext cx="383567" cy="255827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="wordArtVert" wrap="square" rtlCol="0">
            <a:spAutoFit/>
          </a:bodyPr>
          <a:lstStyle/>
          <a:p>
            <a:r>
              <a:rPr lang="en-US" sz="1200" spc="-150" dirty="0">
                <a:solidFill>
                  <a:schemeClr val="bg1"/>
                </a:solidFill>
                <a:latin typeface="Britannic Bold" panose="020B0903060703020204" pitchFamily="34" charset="0"/>
                <a:cs typeface="Aharoni" panose="02010803020104030203" pitchFamily="2" charset="-79"/>
              </a:rPr>
              <a:t>CONCEPT PHASE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82A68-EE36-4207-B1E3-6A52C41E3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199" y="3026013"/>
            <a:ext cx="2880829" cy="25976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22A717-DB87-4B5B-9600-800BFE98DC4A}"/>
              </a:ext>
            </a:extLst>
          </p:cNvPr>
          <p:cNvSpPr txBox="1"/>
          <p:nvPr/>
        </p:nvSpPr>
        <p:spPr>
          <a:xfrm flipH="1">
            <a:off x="4953000" y="5648980"/>
            <a:ext cx="2464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Business Case – </a:t>
            </a:r>
            <a:br>
              <a:rPr lang="en-US" sz="1400" dirty="0"/>
            </a:br>
            <a:r>
              <a:rPr lang="en-US" sz="1400" dirty="0"/>
              <a:t>Analysis of Alternatives( </a:t>
            </a:r>
            <a:r>
              <a:rPr lang="en-US" sz="1400" dirty="0" err="1"/>
              <a:t>AoA</a:t>
            </a:r>
            <a:r>
              <a:rPr lang="en-US" sz="1400" dirty="0"/>
              <a:t>) </a:t>
            </a: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2E79A7BB-9F4D-4312-BD17-A515F7A26742}"/>
              </a:ext>
            </a:extLst>
          </p:cNvPr>
          <p:cNvSpPr/>
          <p:nvPr/>
        </p:nvSpPr>
        <p:spPr>
          <a:xfrm rot="5400000">
            <a:off x="4591016" y="1962184"/>
            <a:ext cx="730128" cy="61576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DBD5C5-2DBD-4227-A6DF-598A51EFCD62}"/>
              </a:ext>
            </a:extLst>
          </p:cNvPr>
          <p:cNvSpPr/>
          <p:nvPr/>
        </p:nvSpPr>
        <p:spPr>
          <a:xfrm>
            <a:off x="4450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9400D5-F18C-4791-91D3-2C39702F5BCF}"/>
              </a:ext>
            </a:extLst>
          </p:cNvPr>
          <p:cNvSpPr/>
          <p:nvPr/>
        </p:nvSpPr>
        <p:spPr>
          <a:xfrm>
            <a:off x="4450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25B72C-0E06-42B3-9EF6-3402A957512C}"/>
              </a:ext>
            </a:extLst>
          </p:cNvPr>
          <p:cNvSpPr txBox="1"/>
          <p:nvPr/>
        </p:nvSpPr>
        <p:spPr>
          <a:xfrm flipH="1">
            <a:off x="5410198" y="1551983"/>
            <a:ext cx="30997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Business Case is being produced and the Analysis of Alternatives (</a:t>
            </a:r>
            <a:r>
              <a:rPr lang="en-US" sz="1400" dirty="0" err="1"/>
              <a:t>AoA</a:t>
            </a:r>
            <a:r>
              <a:rPr lang="en-US" sz="1400" dirty="0"/>
              <a:t>) must </a:t>
            </a:r>
            <a:r>
              <a:rPr lang="en-US" sz="1400" dirty="0" err="1"/>
              <a:t>rconsider</a:t>
            </a:r>
            <a:r>
              <a:rPr lang="en-US" sz="1400" dirty="0"/>
              <a:t> the requirements identified in the Concept of Operations and any existing architecture strategy requirements.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DB0CD5-F607-48CD-BF30-EC33EB3D0EC5}"/>
              </a:ext>
            </a:extLst>
          </p:cNvPr>
          <p:cNvSpPr/>
          <p:nvPr/>
        </p:nvSpPr>
        <p:spPr>
          <a:xfrm>
            <a:off x="967436" y="3988475"/>
            <a:ext cx="3299764" cy="2031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i="1" dirty="0"/>
              <a:t>The EA CP  must influence the </a:t>
            </a:r>
            <a:r>
              <a:rPr lang="en-US" b="1" i="1" dirty="0" err="1"/>
              <a:t>AoA</a:t>
            </a:r>
            <a:r>
              <a:rPr lang="en-US" b="1" i="1" dirty="0"/>
              <a:t> early to ensure any architecture and IT strategy requirements are accounted in the analysis (i.e., existing services, APIs, Cloud strategy, IT ecosystem, </a:t>
            </a:r>
            <a:r>
              <a:rPr lang="en-US" b="1" i="1" dirty="0" err="1"/>
              <a:t>etc</a:t>
            </a:r>
            <a:r>
              <a:rPr lang="en-US" b="1" i="1" dirty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28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1828800" y="66675"/>
            <a:ext cx="7086600" cy="685800"/>
          </a:xfrm>
        </p:spPr>
        <p:txBody>
          <a:bodyPr/>
          <a:lstStyle/>
          <a:p>
            <a:r>
              <a:rPr lang="en-US" dirty="0"/>
              <a:t>The Requirements Phase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CEEDF8-FC23-4C7E-B194-6C5BF9923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650" y="1305067"/>
            <a:ext cx="3099750" cy="187882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EAF7A0-1A8E-40B0-A5E0-46056EEBF7AB}"/>
              </a:ext>
            </a:extLst>
          </p:cNvPr>
          <p:cNvSpPr/>
          <p:nvPr/>
        </p:nvSpPr>
        <p:spPr>
          <a:xfrm>
            <a:off x="1299577" y="838200"/>
            <a:ext cx="35010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000" b="1" dirty="0">
                <a:solidFill>
                  <a:srgbClr val="323232"/>
                </a:solidFill>
                <a:latin typeface="ibm-plex-sans"/>
              </a:rPr>
              <a:t>Concept of Operations diagram</a:t>
            </a:r>
            <a:endParaRPr lang="en-US" sz="2000" b="1" i="0" dirty="0">
              <a:solidFill>
                <a:srgbClr val="323232"/>
              </a:solidFill>
              <a:effectLst/>
              <a:latin typeface="ibm-plex-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920479-6D55-4CFE-8270-B4B6169AAEF0}"/>
              </a:ext>
            </a:extLst>
          </p:cNvPr>
          <p:cNvSpPr txBox="1"/>
          <p:nvPr/>
        </p:nvSpPr>
        <p:spPr>
          <a:xfrm>
            <a:off x="0" y="1840938"/>
            <a:ext cx="383567" cy="339647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="wordArtVert" wrap="square" rtlCol="0">
            <a:spAutoFit/>
          </a:bodyPr>
          <a:lstStyle/>
          <a:p>
            <a:r>
              <a:rPr lang="en-US" sz="1200" spc="-150" dirty="0">
                <a:solidFill>
                  <a:schemeClr val="bg1"/>
                </a:solidFill>
                <a:latin typeface="Britannic Bold" panose="020B0903060703020204" pitchFamily="34" charset="0"/>
                <a:cs typeface="Aharoni" panose="02010803020104030203" pitchFamily="2" charset="-79"/>
              </a:rPr>
              <a:t>REQUIREMENTS PHASE</a:t>
            </a: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2E79A7BB-9F4D-4312-BD17-A515F7A26742}"/>
              </a:ext>
            </a:extLst>
          </p:cNvPr>
          <p:cNvSpPr/>
          <p:nvPr/>
        </p:nvSpPr>
        <p:spPr>
          <a:xfrm rot="5400000">
            <a:off x="5385320" y="1118122"/>
            <a:ext cx="685802" cy="735558"/>
          </a:xfrm>
          <a:prstGeom prst="bentArrow">
            <a:avLst>
              <a:gd name="adj1" fmla="val 25000"/>
              <a:gd name="adj2" fmla="val 23446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DBD5C5-2DBD-4227-A6DF-598A51EFCD62}"/>
              </a:ext>
            </a:extLst>
          </p:cNvPr>
          <p:cNvSpPr/>
          <p:nvPr/>
        </p:nvSpPr>
        <p:spPr>
          <a:xfrm>
            <a:off x="4450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9400D5-F18C-4791-91D3-2C39702F5BCF}"/>
              </a:ext>
            </a:extLst>
          </p:cNvPr>
          <p:cNvSpPr/>
          <p:nvPr/>
        </p:nvSpPr>
        <p:spPr>
          <a:xfrm>
            <a:off x="4450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25B72C-0E06-42B3-9EF6-3402A957512C}"/>
              </a:ext>
            </a:extLst>
          </p:cNvPr>
          <p:cNvSpPr txBox="1"/>
          <p:nvPr/>
        </p:nvSpPr>
        <p:spPr>
          <a:xfrm flipH="1">
            <a:off x="5206052" y="1829510"/>
            <a:ext cx="39309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</a:t>
            </a:r>
            <a:r>
              <a:rPr lang="en-US" sz="1400" dirty="0" err="1"/>
              <a:t>ConOps</a:t>
            </a:r>
            <a:r>
              <a:rPr lang="en-US" sz="1400" dirty="0"/>
              <a:t> aids the Project Manager to identify relevant project activities and where collection of detailed requirements is needed.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383792-4BCC-40EF-8DF9-9CCB2BF1D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908" y="2539484"/>
            <a:ext cx="3248025" cy="1409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AC9E0E-66AB-417B-9115-8313869ADC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3613666"/>
            <a:ext cx="1868318" cy="2018989"/>
          </a:xfrm>
          <a:prstGeom prst="rect">
            <a:avLst/>
          </a:prstGeom>
        </p:spPr>
      </p:pic>
      <p:sp>
        <p:nvSpPr>
          <p:cNvPr id="19" name="Arrow: Bent 18">
            <a:extLst>
              <a:ext uri="{FF2B5EF4-FFF2-40B4-BE49-F238E27FC236}">
                <a16:creationId xmlns:a16="http://schemas.microsoft.com/office/drawing/2014/main" id="{2A5C5FDB-5BCE-43C8-9023-204443EAB634}"/>
              </a:ext>
            </a:extLst>
          </p:cNvPr>
          <p:cNvSpPr/>
          <p:nvPr/>
        </p:nvSpPr>
        <p:spPr>
          <a:xfrm rot="10800000">
            <a:off x="5638801" y="4038600"/>
            <a:ext cx="526092" cy="583735"/>
          </a:xfrm>
          <a:prstGeom prst="bentArrow">
            <a:avLst>
              <a:gd name="adj1" fmla="val 25000"/>
              <a:gd name="adj2" fmla="val 23446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81B914-34A6-446F-AC68-DD12BE3E350A}"/>
              </a:ext>
            </a:extLst>
          </p:cNvPr>
          <p:cNvSpPr txBox="1"/>
          <p:nvPr/>
        </p:nvSpPr>
        <p:spPr>
          <a:xfrm flipH="1">
            <a:off x="5601851" y="4697849"/>
            <a:ext cx="30087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Detailed business requirements are now collected based on the operations identified in the </a:t>
            </a:r>
            <a:r>
              <a:rPr lang="en-US" sz="1400" dirty="0" err="1"/>
              <a:t>ConOps</a:t>
            </a:r>
            <a:r>
              <a:rPr lang="en-US" sz="1400" dirty="0"/>
              <a:t> and by further  interviewing  customers / stakeholders as needed.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3E4697-1891-4E85-8512-10EE9EB92AA0}"/>
              </a:ext>
            </a:extLst>
          </p:cNvPr>
          <p:cNvSpPr txBox="1"/>
          <p:nvPr/>
        </p:nvSpPr>
        <p:spPr>
          <a:xfrm flipH="1">
            <a:off x="1484826" y="3591582"/>
            <a:ext cx="1598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Should refine the </a:t>
            </a:r>
            <a:r>
              <a:rPr lang="en-US" sz="1400" dirty="0" err="1"/>
              <a:t>ConOps</a:t>
            </a:r>
            <a:r>
              <a:rPr lang="en-US" sz="1400" dirty="0"/>
              <a:t> if needed.</a:t>
            </a:r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E7D9B369-6357-40C4-88DB-EC3C5CE70A1B}"/>
              </a:ext>
            </a:extLst>
          </p:cNvPr>
          <p:cNvSpPr/>
          <p:nvPr/>
        </p:nvSpPr>
        <p:spPr>
          <a:xfrm rot="16200000">
            <a:off x="2870720" y="3404122"/>
            <a:ext cx="685802" cy="735558"/>
          </a:xfrm>
          <a:prstGeom prst="bentArrow">
            <a:avLst>
              <a:gd name="adj1" fmla="val 25000"/>
              <a:gd name="adj2" fmla="val 23446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A9A309-AC40-41B4-9D10-FAD4C46A8363}"/>
              </a:ext>
            </a:extLst>
          </p:cNvPr>
          <p:cNvSpPr/>
          <p:nvPr/>
        </p:nvSpPr>
        <p:spPr>
          <a:xfrm>
            <a:off x="609600" y="4819471"/>
            <a:ext cx="2971800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i="1" dirty="0"/>
              <a:t>The EA CP verifies that  requirements accounted for the </a:t>
            </a:r>
            <a:r>
              <a:rPr lang="en-US" b="1" i="1" dirty="0" err="1"/>
              <a:t>ConOps</a:t>
            </a:r>
            <a:r>
              <a:rPr lang="en-US" b="1" i="1" dirty="0"/>
              <a:t>, any architecture and IT strategy.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882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30904" y="462288"/>
            <a:ext cx="37993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+mj-lt"/>
              </a:rPr>
              <a:t>Example – Other Core Requirements Artifacts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43" y="1344789"/>
            <a:ext cx="3256657" cy="2979614"/>
          </a:xfrm>
          <a:prstGeom prst="rect">
            <a:avLst/>
          </a:prstGeom>
        </p:spPr>
      </p:pic>
      <p:sp>
        <p:nvSpPr>
          <p:cNvPr id="11" name="Rectangular Callout 10"/>
          <p:cNvSpPr/>
          <p:nvPr/>
        </p:nvSpPr>
        <p:spPr>
          <a:xfrm>
            <a:off x="3962400" y="837294"/>
            <a:ext cx="1519813" cy="473256"/>
          </a:xfrm>
          <a:prstGeom prst="wedgeRectCallout">
            <a:avLst>
              <a:gd name="adj1" fmla="val -83122"/>
              <a:gd name="adj2" fmla="val 76762"/>
            </a:avLst>
          </a:prstGeom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High-level Business Process Flows illustrates sequence, activities, tasks, and dependencies</a:t>
            </a:r>
          </a:p>
        </p:txBody>
      </p:sp>
      <p:pic>
        <p:nvPicPr>
          <p:cNvPr id="16" name="Picture 15"/>
          <p:cNvPicPr/>
          <p:nvPr/>
        </p:nvPicPr>
        <p:blipFill>
          <a:blip r:embed="rId4"/>
          <a:stretch>
            <a:fillRect/>
          </a:stretch>
        </p:blipFill>
        <p:spPr>
          <a:xfrm>
            <a:off x="1962153" y="2380134"/>
            <a:ext cx="3799332" cy="2521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ular Callout 13"/>
          <p:cNvSpPr/>
          <p:nvPr/>
        </p:nvSpPr>
        <p:spPr>
          <a:xfrm>
            <a:off x="5334000" y="1619824"/>
            <a:ext cx="1519813" cy="473256"/>
          </a:xfrm>
          <a:prstGeom prst="wedgeRectCallout">
            <a:avLst>
              <a:gd name="adj1" fmla="val -63419"/>
              <a:gd name="adj2" fmla="val 125548"/>
            </a:avLst>
          </a:prstGeom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User scenarios captures the future operational use cases.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B7576F-94C4-411D-97EB-F13CDAB858DC}"/>
              </a:ext>
            </a:extLst>
          </p:cNvPr>
          <p:cNvSpPr txBox="1"/>
          <p:nvPr/>
        </p:nvSpPr>
        <p:spPr>
          <a:xfrm>
            <a:off x="0" y="1327928"/>
            <a:ext cx="416717" cy="405762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="wordArtVert" wrap="square" rtlCol="0">
            <a:spAutoFit/>
          </a:bodyPr>
          <a:lstStyle/>
          <a:p>
            <a:r>
              <a:rPr lang="en-US" sz="1400" spc="-150" dirty="0">
                <a:solidFill>
                  <a:schemeClr val="bg1"/>
                </a:solidFill>
                <a:latin typeface="Britannic Bold" panose="020B0903060703020204" pitchFamily="34" charset="0"/>
                <a:cs typeface="Aharoni" panose="02010803020104030203" pitchFamily="2" charset="-79"/>
              </a:rPr>
              <a:t>REQUIREMENTS PHASE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7151" y="3244708"/>
            <a:ext cx="3591717" cy="24464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0B227D2-0EB6-44D3-85F6-93BD5C20A494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4017710" y="4020352"/>
            <a:ext cx="4206155" cy="24464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Rectangular Callout 12">
            <a:extLst>
              <a:ext uri="{FF2B5EF4-FFF2-40B4-BE49-F238E27FC236}">
                <a16:creationId xmlns:a16="http://schemas.microsoft.com/office/drawing/2014/main" id="{8D5E5F3C-703B-457D-83F9-7091599229F3}"/>
              </a:ext>
            </a:extLst>
          </p:cNvPr>
          <p:cNvSpPr/>
          <p:nvPr/>
        </p:nvSpPr>
        <p:spPr>
          <a:xfrm>
            <a:off x="7463958" y="3394490"/>
            <a:ext cx="1519813" cy="473256"/>
          </a:xfrm>
          <a:prstGeom prst="wedgeRectCallout">
            <a:avLst>
              <a:gd name="adj1" fmla="val -49881"/>
              <a:gd name="adj2" fmla="val 105745"/>
            </a:avLst>
          </a:prstGeom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Conceptual/ Logical Data models captures the entities, relationships, and data flows.</a:t>
            </a:r>
          </a:p>
        </p:txBody>
      </p:sp>
      <p:sp>
        <p:nvSpPr>
          <p:cNvPr id="12" name="Rectangular Callout 11"/>
          <p:cNvSpPr/>
          <p:nvPr/>
        </p:nvSpPr>
        <p:spPr>
          <a:xfrm>
            <a:off x="6547014" y="2484398"/>
            <a:ext cx="1519813" cy="473256"/>
          </a:xfrm>
          <a:prstGeom prst="wedgeRectCallout">
            <a:avLst>
              <a:gd name="adj1" fmla="val -62063"/>
              <a:gd name="adj2" fmla="val 119753"/>
            </a:avLst>
          </a:prstGeom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Functional Decomposition captures sub-capabilities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08E9F2-D5A1-443B-AB2F-73B69BD4B721}"/>
              </a:ext>
            </a:extLst>
          </p:cNvPr>
          <p:cNvSpPr/>
          <p:nvPr/>
        </p:nvSpPr>
        <p:spPr>
          <a:xfrm>
            <a:off x="609600" y="4819471"/>
            <a:ext cx="2971800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i="1" dirty="0"/>
              <a:t>The EA CP verifies that  requirements accounted for the </a:t>
            </a:r>
            <a:r>
              <a:rPr lang="en-US" b="1" i="1" dirty="0" err="1"/>
              <a:t>ConOps</a:t>
            </a:r>
            <a:r>
              <a:rPr lang="en-US" b="1" i="1" dirty="0"/>
              <a:t>, any architecture and IT strategy.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1758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1E6295-0562-4FEC-A169-B14CB4868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273" y="2340622"/>
            <a:ext cx="3840127" cy="33398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6717" y="819835"/>
            <a:ext cx="48810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+mj-lt"/>
              </a:rPr>
              <a:t>Example – Core Design Artifacts  (i.e. Solution Architecture)</a:t>
            </a:r>
          </a:p>
        </p:txBody>
      </p:sp>
      <p:sp>
        <p:nvSpPr>
          <p:cNvPr id="15" name="Rectangular Callout 14"/>
          <p:cNvSpPr/>
          <p:nvPr/>
        </p:nvSpPr>
        <p:spPr>
          <a:xfrm>
            <a:off x="6863363" y="1852126"/>
            <a:ext cx="1519813" cy="473256"/>
          </a:xfrm>
          <a:prstGeom prst="wedgeRectCallout">
            <a:avLst>
              <a:gd name="adj1" fmla="val -47174"/>
              <a:gd name="adj2" fmla="val 115405"/>
            </a:avLst>
          </a:prstGeom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Component-based Architecture (</a:t>
            </a:r>
            <a:r>
              <a:rPr lang="en-US" sz="825" dirty="0" err="1">
                <a:solidFill>
                  <a:schemeClr val="tx1"/>
                </a:solidFill>
              </a:rPr>
              <a:t>i.e</a:t>
            </a:r>
            <a:r>
              <a:rPr lang="en-US" sz="825" dirty="0">
                <a:solidFill>
                  <a:schemeClr val="tx1"/>
                </a:solidFill>
              </a:rPr>
              <a:t> Logical Architecture)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B7576F-94C4-411D-97EB-F13CDAB858DC}"/>
              </a:ext>
            </a:extLst>
          </p:cNvPr>
          <p:cNvSpPr txBox="1"/>
          <p:nvPr/>
        </p:nvSpPr>
        <p:spPr>
          <a:xfrm>
            <a:off x="0" y="1327929"/>
            <a:ext cx="416717" cy="309167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="wordArtVert" wrap="square" rtlCol="0">
            <a:spAutoFit/>
          </a:bodyPr>
          <a:lstStyle/>
          <a:p>
            <a:r>
              <a:rPr lang="en-US" sz="1400" spc="-150" dirty="0">
                <a:solidFill>
                  <a:schemeClr val="bg1"/>
                </a:solidFill>
                <a:latin typeface="Britannic Bold" panose="020B0903060703020204" pitchFamily="34" charset="0"/>
                <a:cs typeface="Aharoni" panose="02010803020104030203" pitchFamily="2" charset="-79"/>
              </a:rPr>
              <a:t>DESIGN PHASE</a:t>
            </a:r>
          </a:p>
        </p:txBody>
      </p:sp>
      <p:pic>
        <p:nvPicPr>
          <p:cNvPr id="13" name="Picture 7" descr="Description: Logical Data Model">
            <a:extLst>
              <a:ext uri="{FF2B5EF4-FFF2-40B4-BE49-F238E27FC236}">
                <a16:creationId xmlns:a16="http://schemas.microsoft.com/office/drawing/2014/main" id="{3CF5A65E-A722-4450-9B77-F77456853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24" y="1427196"/>
            <a:ext cx="2230404" cy="22304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5797EC3-C003-4423-A10C-E80677EB9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00200"/>
            <a:ext cx="2839749" cy="25780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sp>
        <p:nvSpPr>
          <p:cNvPr id="14" name="Rectangular Callout 13"/>
          <p:cNvSpPr/>
          <p:nvPr/>
        </p:nvSpPr>
        <p:spPr>
          <a:xfrm>
            <a:off x="5311931" y="1077081"/>
            <a:ext cx="1519813" cy="473256"/>
          </a:xfrm>
          <a:prstGeom prst="wedgeRectCallout">
            <a:avLst>
              <a:gd name="adj1" fmla="val -61915"/>
              <a:gd name="adj2" fmla="val 127964"/>
            </a:avLst>
          </a:prstGeom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Data Flows &amp; Information Exchanges</a:t>
            </a:r>
            <a:br>
              <a:rPr lang="en-US" sz="825" dirty="0">
                <a:solidFill>
                  <a:schemeClr val="tx1"/>
                </a:solidFill>
              </a:rPr>
            </a:br>
            <a:r>
              <a:rPr lang="en-US" sz="825" dirty="0">
                <a:solidFill>
                  <a:schemeClr val="tx1"/>
                </a:solidFill>
              </a:rPr>
              <a:t>(Data Architecture)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428" y="3889269"/>
            <a:ext cx="4403054" cy="243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Rectangular Callout 14">
            <a:extLst>
              <a:ext uri="{FF2B5EF4-FFF2-40B4-BE49-F238E27FC236}">
                <a16:creationId xmlns:a16="http://schemas.microsoft.com/office/drawing/2014/main" id="{3AD1337A-6A1C-48F1-BD8C-75AD9EA8EED1}"/>
              </a:ext>
            </a:extLst>
          </p:cNvPr>
          <p:cNvSpPr/>
          <p:nvPr/>
        </p:nvSpPr>
        <p:spPr>
          <a:xfrm>
            <a:off x="228600" y="4694298"/>
            <a:ext cx="1527769" cy="563501"/>
          </a:xfrm>
          <a:prstGeom prst="wedgeRectCallout">
            <a:avLst>
              <a:gd name="adj1" fmla="val 100231"/>
              <a:gd name="adj2" fmla="val -43997"/>
            </a:avLst>
          </a:prstGeom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System Architecture illustrates technology and network topology.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E1F76A-D4F6-4871-9614-00950D4513D6}"/>
              </a:ext>
            </a:extLst>
          </p:cNvPr>
          <p:cNvSpPr/>
          <p:nvPr/>
        </p:nvSpPr>
        <p:spPr>
          <a:xfrm>
            <a:off x="5411376" y="5080320"/>
            <a:ext cx="2971800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i="1" dirty="0"/>
              <a:t>The EA CP verifies that solution designs align with identified architecture needs and IT strategy.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CF576F-455A-4AAD-9E18-3EC1DEB86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Phase</a:t>
            </a:r>
          </a:p>
        </p:txBody>
      </p:sp>
    </p:spTree>
    <p:extLst>
      <p:ext uri="{BB962C8B-B14F-4D97-AF65-F5344CB8AC3E}">
        <p14:creationId xmlns:p14="http://schemas.microsoft.com/office/powerpoint/2010/main" val="103092462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40171" y="962026"/>
            <a:ext cx="37993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+mj-lt"/>
              </a:rPr>
              <a:t>Example Operational Analysis </a:t>
            </a:r>
          </a:p>
        </p:txBody>
      </p:sp>
      <p:sp>
        <p:nvSpPr>
          <p:cNvPr id="5" name="Rectangle 4"/>
          <p:cNvSpPr/>
          <p:nvPr/>
        </p:nvSpPr>
        <p:spPr>
          <a:xfrm>
            <a:off x="5912351" y="938744"/>
            <a:ext cx="3339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Operations and Maintenance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41" y="1376444"/>
            <a:ext cx="3629159" cy="44755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307" y="2966931"/>
            <a:ext cx="4048215" cy="27233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4444624" y="1571964"/>
            <a:ext cx="3856144" cy="11310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/>
              <a:t>Hits all required dimensions and then some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/>
              <a:t>Appropriate rigor for this organizations #1 IT priority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/>
              <a:t>Used to inform on strategy and direction for this asset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B5096-5330-407C-9C6D-7A3F7B7F9FB5}"/>
              </a:ext>
            </a:extLst>
          </p:cNvPr>
          <p:cNvSpPr txBox="1"/>
          <p:nvPr/>
        </p:nvSpPr>
        <p:spPr>
          <a:xfrm>
            <a:off x="0" y="2075131"/>
            <a:ext cx="416717" cy="225347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="wordArtVert" wrap="square" rtlCol="0">
            <a:spAutoFit/>
          </a:bodyPr>
          <a:lstStyle/>
          <a:p>
            <a:r>
              <a:rPr lang="en-US" sz="1400" spc="-150" dirty="0">
                <a:solidFill>
                  <a:schemeClr val="bg1"/>
                </a:solidFill>
                <a:latin typeface="Britannic Bold" panose="020B0903060703020204" pitchFamily="34" charset="0"/>
                <a:cs typeface="Aharoni" panose="02010803020104030203" pitchFamily="2" charset="-79"/>
              </a:rPr>
              <a:t>O&amp;M PHASE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5AD875-1B78-4642-81D5-B08E9A8AF590}"/>
              </a:ext>
            </a:extLst>
          </p:cNvPr>
          <p:cNvSpPr/>
          <p:nvPr/>
        </p:nvSpPr>
        <p:spPr>
          <a:xfrm>
            <a:off x="609600" y="4819471"/>
            <a:ext cx="2971800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i="1" dirty="0"/>
              <a:t>The EA CP ensures that any identified changes account/align with the  IT strategy.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534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ConOps</a:t>
            </a:r>
            <a:r>
              <a:rPr lang="en-US" dirty="0"/>
              <a:t> – Thank You !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62" y="1243012"/>
            <a:ext cx="2340261" cy="15573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05250" y="1117601"/>
            <a:ext cx="4572000" cy="50629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Q&amp;A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1000" dirty="0">
              <a:solidFill>
                <a:schemeClr val="lt1"/>
              </a:solidFill>
            </a:endParaRPr>
          </a:p>
          <a:p>
            <a:r>
              <a:rPr lang="en-US" sz="1050" b="1" dirty="0"/>
              <a:t>Questions?  Contacts:</a:t>
            </a:r>
          </a:p>
          <a:p>
            <a:pPr marL="230188" indent="-174625">
              <a:buFont typeface="Wingdings" panose="05000000000000000000" pitchFamily="2" charset="2"/>
              <a:buChar char="§"/>
            </a:pPr>
            <a:r>
              <a:rPr lang="en-US" sz="1000" dirty="0"/>
              <a:t>Enterprise Architecture team @</a:t>
            </a:r>
            <a:r>
              <a:rPr lang="en-US" sz="1000" dirty="0">
                <a:solidFill>
                  <a:schemeClr val="lt1"/>
                </a:solidFill>
              </a:rPr>
              <a:t> </a:t>
            </a:r>
            <a:r>
              <a:rPr lang="en-US" sz="1000" dirty="0">
                <a:solidFill>
                  <a:schemeClr val="lt1"/>
                </a:solidFill>
                <a:hlinkClick r:id="rId4"/>
              </a:rPr>
              <a:t>ea@cdc.gov</a:t>
            </a:r>
            <a:r>
              <a:rPr lang="en-US" sz="1000" dirty="0">
                <a:solidFill>
                  <a:schemeClr val="lt1"/>
                </a:solidFill>
              </a:rPr>
              <a:t> .</a:t>
            </a:r>
          </a:p>
          <a:p>
            <a:pPr marL="230188" indent="-174625">
              <a:buFont typeface="Wingdings" panose="05000000000000000000" pitchFamily="2" charset="2"/>
              <a:buChar char="§"/>
            </a:pPr>
            <a:r>
              <a:rPr lang="en-US" sz="1000" dirty="0"/>
              <a:t>Tim Mawhinney @</a:t>
            </a:r>
            <a:r>
              <a:rPr lang="en-US" sz="1000" dirty="0">
                <a:solidFill>
                  <a:schemeClr val="lt1"/>
                </a:solidFill>
              </a:rPr>
              <a:t>(</a:t>
            </a:r>
            <a:r>
              <a:rPr lang="en-US" sz="1000" dirty="0">
                <a:solidFill>
                  <a:schemeClr val="lt1"/>
                </a:solidFill>
                <a:hlinkClick r:id="rId5"/>
              </a:rPr>
              <a:t>tvm9@cdc.gov</a:t>
            </a:r>
            <a:r>
              <a:rPr lang="en-US" sz="1000" b="1" dirty="0">
                <a:solidFill>
                  <a:schemeClr val="lt1"/>
                </a:solidFill>
              </a:rPr>
              <a:t> </a:t>
            </a:r>
            <a:r>
              <a:rPr lang="en-US" sz="1000" dirty="0"/>
              <a:t>or Ricky Freyre@ </a:t>
            </a:r>
            <a:r>
              <a:rPr lang="en-US" sz="1000" dirty="0">
                <a:solidFill>
                  <a:schemeClr val="lt1"/>
                </a:solidFill>
                <a:hlinkClick r:id="rId6"/>
              </a:rPr>
              <a:t>jrf1@cdc.gov</a:t>
            </a:r>
            <a:endParaRPr lang="en-US" sz="1000" dirty="0">
              <a:solidFill>
                <a:schemeClr val="lt1"/>
              </a:solidFill>
            </a:endParaRPr>
          </a:p>
          <a:p>
            <a:pPr marL="230188" indent="-174625">
              <a:buFont typeface="Wingdings" panose="05000000000000000000" pitchFamily="2" charset="2"/>
              <a:buChar char="§"/>
            </a:pPr>
            <a:endParaRPr lang="en-US" sz="1000" dirty="0">
              <a:solidFill>
                <a:schemeClr val="lt1"/>
              </a:solidFill>
            </a:endParaRPr>
          </a:p>
          <a:p>
            <a:pPr marL="230188" indent="-174625">
              <a:buFont typeface="Wingdings" panose="05000000000000000000" pitchFamily="2" charset="2"/>
              <a:buChar char="§"/>
            </a:pPr>
            <a:endParaRPr lang="en-US" sz="1000" dirty="0">
              <a:solidFill>
                <a:schemeClr val="lt1"/>
              </a:solidFill>
            </a:endParaRPr>
          </a:p>
          <a:p>
            <a:pPr marL="55563"/>
            <a:r>
              <a:rPr lang="en-US" sz="1000" dirty="0"/>
              <a:t>EITPO Online Job Aid doe </a:t>
            </a:r>
            <a:r>
              <a:rPr lang="en-US" sz="1000" dirty="0" err="1"/>
              <a:t>ConOps</a:t>
            </a:r>
            <a:r>
              <a:rPr lang="en-US" sz="1000" dirty="0"/>
              <a:t>:</a:t>
            </a:r>
          </a:p>
          <a:p>
            <a:pPr marL="55563"/>
            <a:r>
              <a:rPr lang="en-US" sz="1000" dirty="0">
                <a:hlinkClick r:id="rId7"/>
              </a:rPr>
              <a:t>https://esp.cdc.gov/sites/ocoo/EITPO/EPLC/SitePages/Concept%20of%20Operations.aspx</a:t>
            </a:r>
            <a:endParaRPr lang="en-US" sz="1000" dirty="0"/>
          </a:p>
          <a:p>
            <a:pPr marL="55563"/>
            <a:endParaRPr lang="en-US" sz="1000" dirty="0"/>
          </a:p>
          <a:p>
            <a:endParaRPr lang="en-US" sz="105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2580" y="1496640"/>
            <a:ext cx="5146490" cy="299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14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47" y="2593181"/>
            <a:ext cx="8165306" cy="16716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732" y="1021002"/>
            <a:ext cx="37993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+mj-lt"/>
              </a:rPr>
              <a:t>NCEZID IT Portfolio.. </a:t>
            </a:r>
          </a:p>
        </p:txBody>
      </p:sp>
    </p:spTree>
    <p:extLst>
      <p:ext uri="{BB962C8B-B14F-4D97-AF65-F5344CB8AC3E}">
        <p14:creationId xmlns:p14="http://schemas.microsoft.com/office/powerpoint/2010/main" val="16286339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NdegozfcLDwMWvtXNgsP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mdYIxevESvuL5TNEJZ8eT"/>
</p:tagLst>
</file>

<file path=ppt/theme/theme1.xml><?xml version="1.0" encoding="utf-8"?>
<a:theme xmlns:a="http://schemas.openxmlformats.org/drawingml/2006/main" name="EITPO">
  <a:themeElements>
    <a:clrScheme name="OCOO Theme">
      <a:dk1>
        <a:srgbClr val="000000"/>
      </a:dk1>
      <a:lt1>
        <a:sysClr val="window" lastClr="FFFFFF"/>
      </a:lt1>
      <a:dk2>
        <a:srgbClr val="00439C"/>
      </a:dk2>
      <a:lt2>
        <a:srgbClr val="E3EAF4"/>
      </a:lt2>
      <a:accent1>
        <a:srgbClr val="2A85FF"/>
      </a:accent1>
      <a:accent2>
        <a:srgbClr val="8EAAD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DC Myriad Web Pro">
      <a:majorFont>
        <a:latin typeface="Myriad Web Pro"/>
        <a:ea typeface=""/>
        <a:cs typeface=""/>
      </a:majorFont>
      <a:minorFont>
        <a:latin typeface="Myriad Web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ITPO" id="{B3EAB294-39BC-4B26-ABDF-0E47DC5B4CE3}" vid="{252E5F6D-750A-4D8F-983C-F2FB1DF9A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10406</TotalTime>
  <Words>1440</Words>
  <Application>Microsoft Office PowerPoint</Application>
  <PresentationFormat>On-screen Show (4:3)</PresentationFormat>
  <Paragraphs>210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Aharoni</vt:lpstr>
      <vt:lpstr>Arial</vt:lpstr>
      <vt:lpstr>Britannic Bold</vt:lpstr>
      <vt:lpstr>Calibri</vt:lpstr>
      <vt:lpstr>Courier New</vt:lpstr>
      <vt:lpstr>Franklin Gothic Demi</vt:lpstr>
      <vt:lpstr>ibm-plex-sans</vt:lpstr>
      <vt:lpstr>Myriad Web Pro</vt:lpstr>
      <vt:lpstr>Times New Roman</vt:lpstr>
      <vt:lpstr>Wingdings</vt:lpstr>
      <vt:lpstr>EITPO</vt:lpstr>
      <vt:lpstr>PowerPoint Presentation</vt:lpstr>
      <vt:lpstr>AGENDA &amp; Objectives</vt:lpstr>
      <vt:lpstr>The Role of the EA CP is…</vt:lpstr>
      <vt:lpstr>Where Does IT Strategy Comes From?</vt:lpstr>
      <vt:lpstr>IT Strategy As Design Principles and Reference Architectures</vt:lpstr>
      <vt:lpstr>Reference Architectures (RA) - Examples</vt:lpstr>
      <vt:lpstr>PowerPoint Presentation</vt:lpstr>
      <vt:lpstr>The EA CP Community</vt:lpstr>
      <vt:lpstr>EA SharePoint Materials</vt:lpstr>
      <vt:lpstr>Performing Project Reviews During the EPLC</vt:lpstr>
      <vt:lpstr>PowerPoint Presentation</vt:lpstr>
      <vt:lpstr>Ancillary Material</vt:lpstr>
      <vt:lpstr>PowerPoint Presentation</vt:lpstr>
      <vt:lpstr>Concept of Operations – Example</vt:lpstr>
      <vt:lpstr>Concept of Operations – Example</vt:lpstr>
      <vt:lpstr>Concept of Operations – Example</vt:lpstr>
      <vt:lpstr>The Concept Phase</vt:lpstr>
      <vt:lpstr>The Requirements Phase</vt:lpstr>
      <vt:lpstr>PowerPoint Presentation</vt:lpstr>
      <vt:lpstr>Design Phase</vt:lpstr>
      <vt:lpstr>PowerPoint Presentation</vt:lpstr>
      <vt:lpstr>ConOps – Thank You !  </vt:lpstr>
      <vt:lpstr>PowerPoint Presentation</vt:lpstr>
    </vt:vector>
  </TitlesOfParts>
  <Company>Centers for Disease Control and Prevention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Ricky Freyre</dc:creator>
  <cp:lastModifiedBy>Ricky Freyre</cp:lastModifiedBy>
  <cp:revision>555</cp:revision>
  <dcterms:created xsi:type="dcterms:W3CDTF">2013-04-01T12:37:20Z</dcterms:created>
  <dcterms:modified xsi:type="dcterms:W3CDTF">2018-10-11T00:36:56Z</dcterms:modified>
</cp:coreProperties>
</file>